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60" r:id="rId4"/>
    <p:sldId id="259" r:id="rId5"/>
    <p:sldId id="261" r:id="rId6"/>
    <p:sldId id="264" r:id="rId7"/>
    <p:sldId id="265" r:id="rId8"/>
    <p:sldId id="266" r:id="rId9"/>
    <p:sldId id="267" r:id="rId10"/>
    <p:sldId id="268" r:id="rId11"/>
    <p:sldId id="269" r:id="rId12"/>
    <p:sldId id="270" r:id="rId13"/>
    <p:sldId id="271" r:id="rId14"/>
    <p:sldId id="272" r:id="rId15"/>
    <p:sldId id="273"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700"/>
    <a:srgbClr val="C9C9C9"/>
    <a:srgbClr val="737272"/>
    <a:srgbClr val="999999"/>
    <a:srgbClr val="54535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46EBE9-609A-1D61-F83D-3FA836E81B80}" v="58" dt="2022-12-05T14:49:49.254"/>
    <p1510:client id="{24BD9DF7-4891-A0B4-1E40-77DD7268F951}" v="636" dt="2022-12-05T22:11:20.890"/>
    <p1510:client id="{31EE8BD7-D544-0067-9227-F55A45A6C448}" v="899" dt="2022-12-05T17:29:01.807"/>
    <p1510:client id="{5CA356D6-C888-4C4B-B1DD-C42ED3E68AD4}" v="920" dt="2022-12-05T01:13:04.7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620584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53107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197917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423438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69422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428199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2604956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201171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346517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730817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a:t>
            </a:fld>
            <a:endParaRPr lang="en-US" dirty="0"/>
          </a:p>
        </p:txBody>
      </p:sp>
    </p:spTree>
    <p:extLst>
      <p:ext uri="{BB962C8B-B14F-4D97-AF65-F5344CB8AC3E}">
        <p14:creationId xmlns:p14="http://schemas.microsoft.com/office/powerpoint/2010/main" val="1525440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12/5/2022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‹N°›</a:t>
            </a:fld>
            <a:endParaRPr lang="en-US" dirty="0"/>
          </a:p>
        </p:txBody>
      </p:sp>
    </p:spTree>
    <p:extLst>
      <p:ext uri="{BB962C8B-B14F-4D97-AF65-F5344CB8AC3E}">
        <p14:creationId xmlns:p14="http://schemas.microsoft.com/office/powerpoint/2010/main" val="25034169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3" Type="http://schemas.openxmlformats.org/officeDocument/2006/relationships/image" Target="../media/image15.svg"/><Relationship Id="rId18" Type="http://schemas.openxmlformats.org/officeDocument/2006/relationships/image" Target="../media/image20.png"/><Relationship Id="rId26" Type="http://schemas.openxmlformats.org/officeDocument/2006/relationships/image" Target="../media/image28.png"/><Relationship Id="rId3" Type="http://schemas.openxmlformats.org/officeDocument/2006/relationships/image" Target="../media/image5.svg"/><Relationship Id="rId21" Type="http://schemas.openxmlformats.org/officeDocument/2006/relationships/image" Target="../media/image23.svg"/><Relationship Id="rId7" Type="http://schemas.openxmlformats.org/officeDocument/2006/relationships/image" Target="../media/image9.svg"/><Relationship Id="rId12" Type="http://schemas.openxmlformats.org/officeDocument/2006/relationships/image" Target="../media/image14.pn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35.sv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29" Type="http://schemas.openxmlformats.org/officeDocument/2006/relationships/image" Target="../media/image31.sv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png"/><Relationship Id="rId10" Type="http://schemas.openxmlformats.org/officeDocument/2006/relationships/image" Target="../media/image12.png"/><Relationship Id="rId19" Type="http://schemas.openxmlformats.org/officeDocument/2006/relationships/image" Target="../media/image21.svg"/><Relationship Id="rId31" Type="http://schemas.openxmlformats.org/officeDocument/2006/relationships/image" Target="../media/image3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 Id="rId22" Type="http://schemas.openxmlformats.org/officeDocument/2006/relationships/image" Target="../media/image24.png"/><Relationship Id="rId27" Type="http://schemas.openxmlformats.org/officeDocument/2006/relationships/image" Target="../media/image29.svg"/><Relationship Id="rId30" Type="http://schemas.openxmlformats.org/officeDocument/2006/relationships/image" Target="../media/image32.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fr.wikipedia.org/wiki/Sant%C3%A9" TargetMode="External"/><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hyperlink" Target="https://fr.wikipedia.org/wiki/Plaisi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www.united-heroes.com/blog/talent-management-fideliser-les-salaries?hsLang=fr"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105EC86E-7C3D-BF43-AA36-FE851462756C}"/>
              </a:ext>
            </a:extLst>
          </p:cNvPr>
          <p:cNvGrpSpPr/>
          <p:nvPr/>
        </p:nvGrpSpPr>
        <p:grpSpPr>
          <a:xfrm>
            <a:off x="12880" y="-3756"/>
            <a:ext cx="12134043" cy="6865512"/>
            <a:chOff x="12880" y="-3756"/>
            <a:chExt cx="12134043" cy="6865512"/>
          </a:xfrm>
        </p:grpSpPr>
        <p:grpSp>
          <p:nvGrpSpPr>
            <p:cNvPr id="9" name="Groupe 8">
              <a:extLst>
                <a:ext uri="{FF2B5EF4-FFF2-40B4-BE49-F238E27FC236}">
                  <a16:creationId xmlns:a16="http://schemas.microsoft.com/office/drawing/2014/main" id="{E00702FD-6375-35D8-1F9F-697CF0CBC8FD}"/>
                </a:ext>
              </a:extLst>
            </p:cNvPr>
            <p:cNvGrpSpPr/>
            <p:nvPr/>
          </p:nvGrpSpPr>
          <p:grpSpPr>
            <a:xfrm>
              <a:off x="12880" y="-3756"/>
              <a:ext cx="12134043" cy="6865512"/>
              <a:chOff x="12880" y="-3756"/>
              <a:chExt cx="12134043" cy="6865512"/>
            </a:xfrm>
          </p:grpSpPr>
          <p:pic>
            <p:nvPicPr>
              <p:cNvPr id="2" name="Image 2">
                <a:extLst>
                  <a:ext uri="{FF2B5EF4-FFF2-40B4-BE49-F238E27FC236}">
                    <a16:creationId xmlns:a16="http://schemas.microsoft.com/office/drawing/2014/main" id="{7883FD9F-C373-96B8-61E5-7E07A4102485}"/>
                  </a:ext>
                </a:extLst>
              </p:cNvPr>
              <p:cNvPicPr>
                <a:picLocks noChangeAspect="1"/>
              </p:cNvPicPr>
              <p:nvPr/>
            </p:nvPicPr>
            <p:blipFill>
              <a:blip r:embed="rId2"/>
              <a:stretch>
                <a:fillRect/>
              </a:stretch>
            </p:blipFill>
            <p:spPr>
              <a:xfrm>
                <a:off x="12880" y="-3756"/>
                <a:ext cx="12134043" cy="6865512"/>
              </a:xfrm>
              <a:prstGeom prst="rect">
                <a:avLst/>
              </a:prstGeom>
            </p:spPr>
          </p:pic>
          <p:sp>
            <p:nvSpPr>
              <p:cNvPr id="3" name="Rectangle 2">
                <a:extLst>
                  <a:ext uri="{FF2B5EF4-FFF2-40B4-BE49-F238E27FC236}">
                    <a16:creationId xmlns:a16="http://schemas.microsoft.com/office/drawing/2014/main" id="{49990417-B62B-1942-7C94-32FCD7CE9429}"/>
                  </a:ext>
                </a:extLst>
              </p:cNvPr>
              <p:cNvSpPr/>
              <p:nvPr/>
            </p:nvSpPr>
            <p:spPr>
              <a:xfrm>
                <a:off x="1347990" y="706192"/>
                <a:ext cx="4271493" cy="3756338"/>
              </a:xfrm>
              <a:prstGeom prst="rect">
                <a:avLst/>
              </a:prstGeom>
              <a:noFill/>
              <a:ln w="57150">
                <a:solidFill>
                  <a:srgbClr val="FA97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DE00CE25-51A7-3E11-A075-8067810E4AF3}"/>
                  </a:ext>
                </a:extLst>
              </p:cNvPr>
              <p:cNvSpPr/>
              <p:nvPr/>
            </p:nvSpPr>
            <p:spPr>
              <a:xfrm>
                <a:off x="585990" y="3434366"/>
                <a:ext cx="1727916" cy="1695719"/>
              </a:xfrm>
              <a:prstGeom prst="rect">
                <a:avLst/>
              </a:prstGeom>
              <a:solidFill>
                <a:srgbClr val="FA9755"/>
              </a:solidFill>
              <a:ln w="57150">
                <a:solidFill>
                  <a:srgbClr val="FA975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a:p>
            </p:txBody>
          </p:sp>
        </p:grpSp>
        <p:pic>
          <p:nvPicPr>
            <p:cNvPr id="10" name="Image 10" descr="Une image contenant texte&#10;&#10;Description générée automatiquement">
              <a:extLst>
                <a:ext uri="{FF2B5EF4-FFF2-40B4-BE49-F238E27FC236}">
                  <a16:creationId xmlns:a16="http://schemas.microsoft.com/office/drawing/2014/main" id="{BC6F438C-DFF6-6E6F-4879-D539274D5D05}"/>
                </a:ext>
              </a:extLst>
            </p:cNvPr>
            <p:cNvPicPr>
              <a:picLocks noChangeAspect="1"/>
            </p:cNvPicPr>
            <p:nvPr/>
          </p:nvPicPr>
          <p:blipFill>
            <a:blip r:embed="rId3"/>
            <a:stretch>
              <a:fillRect/>
            </a:stretch>
          </p:blipFill>
          <p:spPr>
            <a:xfrm>
              <a:off x="4016061" y="1961275"/>
              <a:ext cx="7562044" cy="1164604"/>
            </a:xfrm>
            <a:prstGeom prst="rect">
              <a:avLst/>
            </a:prstGeom>
          </p:spPr>
        </p:pic>
      </p:grpSp>
      <p:sp>
        <p:nvSpPr>
          <p:cNvPr id="12" name="ZoneTexte 11">
            <a:extLst>
              <a:ext uri="{FF2B5EF4-FFF2-40B4-BE49-F238E27FC236}">
                <a16:creationId xmlns:a16="http://schemas.microsoft.com/office/drawing/2014/main" id="{52155E38-44A5-834A-5B82-A0DB2CFB8F93}"/>
              </a:ext>
            </a:extLst>
          </p:cNvPr>
          <p:cNvSpPr txBox="1"/>
          <p:nvPr/>
        </p:nvSpPr>
        <p:spPr>
          <a:xfrm>
            <a:off x="7134895" y="4494726"/>
            <a:ext cx="4490433"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800" u="sng" dirty="0">
                <a:solidFill>
                  <a:schemeClr val="bg1"/>
                </a:solidFill>
                <a:cs typeface="Calibri"/>
              </a:rPr>
              <a:t>Réalisé par:</a:t>
            </a:r>
          </a:p>
          <a:p>
            <a:r>
              <a:rPr lang="fr-FR" sz="2000" dirty="0">
                <a:solidFill>
                  <a:schemeClr val="bg1"/>
                </a:solidFill>
                <a:cs typeface="Calibri"/>
              </a:rPr>
              <a:t>                    </a:t>
            </a:r>
            <a:r>
              <a:rPr lang="fr-FR" sz="2000" dirty="0">
                <a:solidFill>
                  <a:schemeClr val="bg1"/>
                </a:solidFill>
                <a:latin typeface="Verdana Pro"/>
                <a:cs typeface="Calibri"/>
              </a:rPr>
              <a:t>RAGHI Wissal</a:t>
            </a:r>
          </a:p>
          <a:p>
            <a:r>
              <a:rPr lang="fr-FR" sz="2000" dirty="0">
                <a:solidFill>
                  <a:schemeClr val="bg1"/>
                </a:solidFill>
                <a:latin typeface="Verdana Pro"/>
                <a:cs typeface="Calibri"/>
              </a:rPr>
              <a:t>                     ELMARKAOUI Aya</a:t>
            </a:r>
          </a:p>
        </p:txBody>
      </p:sp>
      <p:sp>
        <p:nvSpPr>
          <p:cNvPr id="13" name="ZoneTexte 12">
            <a:extLst>
              <a:ext uri="{FF2B5EF4-FFF2-40B4-BE49-F238E27FC236}">
                <a16:creationId xmlns:a16="http://schemas.microsoft.com/office/drawing/2014/main" id="{9B544F9D-D58B-1FDA-A5C3-0339D58366A4}"/>
              </a:ext>
            </a:extLst>
          </p:cNvPr>
          <p:cNvSpPr txBox="1"/>
          <p:nvPr/>
        </p:nvSpPr>
        <p:spPr>
          <a:xfrm>
            <a:off x="9839459" y="6231227"/>
            <a:ext cx="36576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2400" dirty="0">
                <a:solidFill>
                  <a:schemeClr val="bg1"/>
                </a:solidFill>
                <a:cs typeface="Calibri"/>
              </a:rPr>
              <a:t>06/12/2022</a:t>
            </a:r>
            <a:endParaRPr lang="fr-FR" dirty="0">
              <a:solidFill>
                <a:schemeClr val="bg1"/>
              </a:solidFill>
              <a:cs typeface="Calibri" panose="020F0502020204030204"/>
            </a:endParaRPr>
          </a:p>
        </p:txBody>
      </p:sp>
    </p:spTree>
    <p:extLst>
      <p:ext uri="{BB962C8B-B14F-4D97-AF65-F5344CB8AC3E}">
        <p14:creationId xmlns:p14="http://schemas.microsoft.com/office/powerpoint/2010/main" val="3433230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 2" descr="Une image contenant texte&#10;&#10;Description générée automatiquement">
            <a:extLst>
              <a:ext uri="{FF2B5EF4-FFF2-40B4-BE49-F238E27FC236}">
                <a16:creationId xmlns:a16="http://schemas.microsoft.com/office/drawing/2014/main" id="{7A4D2F41-2706-73DC-B03E-14C0FF1E7FB5}"/>
              </a:ext>
            </a:extLst>
          </p:cNvPr>
          <p:cNvPicPr>
            <a:picLocks noChangeAspect="1"/>
          </p:cNvPicPr>
          <p:nvPr/>
        </p:nvPicPr>
        <p:blipFill rotWithShape="1">
          <a:blip r:embed="rId2"/>
          <a:srcRect t="3579" r="1" b="1"/>
          <a:stretch/>
        </p:blipFill>
        <p:spPr>
          <a:xfrm>
            <a:off x="3" y="10"/>
            <a:ext cx="10655455" cy="6857990"/>
          </a:xfrm>
          <a:custGeom>
            <a:avLst/>
            <a:gdLst/>
            <a:ahLst/>
            <a:cxnLst/>
            <a:rect l="l" t="t" r="r" b="b"/>
            <a:pathLst>
              <a:path w="10655455" h="6858000">
                <a:moveTo>
                  <a:pt x="8526285" y="6283111"/>
                </a:moveTo>
                <a:cubicBezTo>
                  <a:pt x="8526285" y="6283111"/>
                  <a:pt x="8526285" y="6283111"/>
                  <a:pt x="10157124" y="6283111"/>
                </a:cubicBezTo>
                <a:cubicBezTo>
                  <a:pt x="10259271" y="6283111"/>
                  <a:pt x="10357896" y="6339261"/>
                  <a:pt x="10407209" y="6430504"/>
                </a:cubicBezTo>
                <a:cubicBezTo>
                  <a:pt x="10407209" y="6430504"/>
                  <a:pt x="10407209" y="6430504"/>
                  <a:pt x="10606716" y="6774068"/>
                </a:cubicBezTo>
                <a:lnTo>
                  <a:pt x="10655455" y="6858000"/>
                </a:lnTo>
                <a:lnTo>
                  <a:pt x="8025501" y="6858000"/>
                </a:lnTo>
                <a:lnTo>
                  <a:pt x="8129453" y="6678214"/>
                </a:lnTo>
                <a:cubicBezTo>
                  <a:pt x="8174148" y="6600912"/>
                  <a:pt x="8221824" y="6518457"/>
                  <a:pt x="8272677" y="6430504"/>
                </a:cubicBezTo>
                <a:cubicBezTo>
                  <a:pt x="8325512" y="6339261"/>
                  <a:pt x="8420615" y="6283111"/>
                  <a:pt x="8526285" y="6283111"/>
                </a:cubicBezTo>
                <a:close/>
                <a:moveTo>
                  <a:pt x="8508611" y="4776272"/>
                </a:moveTo>
                <a:cubicBezTo>
                  <a:pt x="8508611" y="4776272"/>
                  <a:pt x="8508611" y="4776272"/>
                  <a:pt x="9153763" y="4776272"/>
                </a:cubicBezTo>
                <a:cubicBezTo>
                  <a:pt x="9194173" y="4776272"/>
                  <a:pt x="9233188" y="4798484"/>
                  <a:pt x="9252696" y="4834580"/>
                </a:cubicBezTo>
                <a:cubicBezTo>
                  <a:pt x="9252696" y="4834580"/>
                  <a:pt x="9252696" y="4834580"/>
                  <a:pt x="9575969" y="5391278"/>
                </a:cubicBezTo>
                <a:cubicBezTo>
                  <a:pt x="9596871" y="5425985"/>
                  <a:pt x="9596871" y="5470409"/>
                  <a:pt x="9575969" y="5505116"/>
                </a:cubicBezTo>
                <a:cubicBezTo>
                  <a:pt x="9575969" y="5505116"/>
                  <a:pt x="9575969" y="5505116"/>
                  <a:pt x="9252696" y="6061815"/>
                </a:cubicBezTo>
                <a:cubicBezTo>
                  <a:pt x="9233188" y="6097909"/>
                  <a:pt x="9194173" y="6120122"/>
                  <a:pt x="9153763" y="6120122"/>
                </a:cubicBezTo>
                <a:cubicBezTo>
                  <a:pt x="9153763" y="6120122"/>
                  <a:pt x="9153763" y="6120122"/>
                  <a:pt x="8508611" y="6120122"/>
                </a:cubicBezTo>
                <a:cubicBezTo>
                  <a:pt x="8466808" y="6120122"/>
                  <a:pt x="8429186" y="6097909"/>
                  <a:pt x="8408284" y="6061815"/>
                </a:cubicBezTo>
                <a:cubicBezTo>
                  <a:pt x="8408284" y="6061815"/>
                  <a:pt x="8408284" y="6061815"/>
                  <a:pt x="8086404" y="5505116"/>
                </a:cubicBezTo>
                <a:cubicBezTo>
                  <a:pt x="8065503" y="5470409"/>
                  <a:pt x="8065503" y="5425985"/>
                  <a:pt x="8086404" y="5391278"/>
                </a:cubicBezTo>
                <a:cubicBezTo>
                  <a:pt x="8086404" y="5391278"/>
                  <a:pt x="8086404" y="5391278"/>
                  <a:pt x="8408284" y="4834580"/>
                </a:cubicBezTo>
                <a:cubicBezTo>
                  <a:pt x="8429186" y="4798484"/>
                  <a:pt x="8466808" y="4776272"/>
                  <a:pt x="8508611" y="4776272"/>
                </a:cubicBezTo>
                <a:close/>
                <a:moveTo>
                  <a:pt x="8438383" y="4182594"/>
                </a:moveTo>
                <a:cubicBezTo>
                  <a:pt x="8438383" y="4182594"/>
                  <a:pt x="8438383" y="4182594"/>
                  <a:pt x="8671249" y="4182594"/>
                </a:cubicBezTo>
                <a:cubicBezTo>
                  <a:pt x="8685834" y="4182594"/>
                  <a:pt x="8699916" y="4190612"/>
                  <a:pt x="8706958" y="4203640"/>
                </a:cubicBezTo>
                <a:cubicBezTo>
                  <a:pt x="8706958" y="4203640"/>
                  <a:pt x="8706958" y="4203640"/>
                  <a:pt x="8823642" y="4404579"/>
                </a:cubicBezTo>
                <a:cubicBezTo>
                  <a:pt x="8831187" y="4417106"/>
                  <a:pt x="8831187" y="4433141"/>
                  <a:pt x="8823642" y="4445668"/>
                </a:cubicBezTo>
                <a:cubicBezTo>
                  <a:pt x="8823642" y="4445668"/>
                  <a:pt x="8823642" y="4445668"/>
                  <a:pt x="8706958" y="4646606"/>
                </a:cubicBezTo>
                <a:cubicBezTo>
                  <a:pt x="8699916" y="4659635"/>
                  <a:pt x="8685834" y="4667652"/>
                  <a:pt x="8671249" y="4667652"/>
                </a:cubicBezTo>
                <a:cubicBezTo>
                  <a:pt x="8671249" y="4667652"/>
                  <a:pt x="8671249" y="4667652"/>
                  <a:pt x="8438383" y="4667652"/>
                </a:cubicBezTo>
                <a:cubicBezTo>
                  <a:pt x="8423295" y="4667652"/>
                  <a:pt x="8409715" y="4659635"/>
                  <a:pt x="8402170" y="4646606"/>
                </a:cubicBezTo>
                <a:cubicBezTo>
                  <a:pt x="8402170" y="4646606"/>
                  <a:pt x="8402170" y="4646606"/>
                  <a:pt x="8285989" y="4445668"/>
                </a:cubicBezTo>
                <a:cubicBezTo>
                  <a:pt x="8278445" y="4433141"/>
                  <a:pt x="8278445" y="4417106"/>
                  <a:pt x="8285989" y="4404579"/>
                </a:cubicBezTo>
                <a:cubicBezTo>
                  <a:pt x="8285989" y="4404579"/>
                  <a:pt x="8285989" y="4404579"/>
                  <a:pt x="8402170" y="4203640"/>
                </a:cubicBezTo>
                <a:cubicBezTo>
                  <a:pt x="8409715" y="4190612"/>
                  <a:pt x="8423295" y="4182594"/>
                  <a:pt x="8438383" y="4182594"/>
                </a:cubicBezTo>
                <a:close/>
                <a:moveTo>
                  <a:pt x="7678681" y="3459104"/>
                </a:moveTo>
                <a:cubicBezTo>
                  <a:pt x="7678681" y="3459104"/>
                  <a:pt x="7678681" y="3459104"/>
                  <a:pt x="8119685" y="3459104"/>
                </a:cubicBezTo>
                <a:cubicBezTo>
                  <a:pt x="8147308" y="3459104"/>
                  <a:pt x="8173978" y="3474287"/>
                  <a:pt x="8187313" y="3498961"/>
                </a:cubicBezTo>
                <a:cubicBezTo>
                  <a:pt x="8187313" y="3498961"/>
                  <a:pt x="8187313" y="3498961"/>
                  <a:pt x="8408292" y="3879501"/>
                </a:cubicBezTo>
                <a:cubicBezTo>
                  <a:pt x="8422579" y="3903225"/>
                  <a:pt x="8422579" y="3933593"/>
                  <a:pt x="8408292" y="3957318"/>
                </a:cubicBezTo>
                <a:cubicBezTo>
                  <a:pt x="8408292" y="3957318"/>
                  <a:pt x="8408292" y="3957318"/>
                  <a:pt x="8187313" y="4337857"/>
                </a:cubicBezTo>
                <a:cubicBezTo>
                  <a:pt x="8173978" y="4362531"/>
                  <a:pt x="8147308" y="4377714"/>
                  <a:pt x="8119685" y="4377714"/>
                </a:cubicBezTo>
                <a:cubicBezTo>
                  <a:pt x="8119685" y="4377714"/>
                  <a:pt x="8119685" y="4377714"/>
                  <a:pt x="7678681" y="4377714"/>
                </a:cubicBezTo>
                <a:cubicBezTo>
                  <a:pt x="7650106" y="4377714"/>
                  <a:pt x="7624388" y="4362531"/>
                  <a:pt x="7610101" y="4337857"/>
                </a:cubicBezTo>
                <a:cubicBezTo>
                  <a:pt x="7610101" y="4337857"/>
                  <a:pt x="7610101" y="4337857"/>
                  <a:pt x="7390076" y="3957318"/>
                </a:cubicBezTo>
                <a:cubicBezTo>
                  <a:pt x="7375787" y="3933593"/>
                  <a:pt x="7375787" y="3903225"/>
                  <a:pt x="7390076" y="3879501"/>
                </a:cubicBezTo>
                <a:cubicBezTo>
                  <a:pt x="7390076" y="3879501"/>
                  <a:pt x="7390076" y="3879501"/>
                  <a:pt x="7610101" y="3498961"/>
                </a:cubicBezTo>
                <a:cubicBezTo>
                  <a:pt x="7624388" y="3474287"/>
                  <a:pt x="7650106" y="3459104"/>
                  <a:pt x="7678681" y="3459104"/>
                </a:cubicBezTo>
                <a:close/>
                <a:moveTo>
                  <a:pt x="9108816" y="2082751"/>
                </a:moveTo>
                <a:cubicBezTo>
                  <a:pt x="9108816" y="2082751"/>
                  <a:pt x="9108816" y="2082751"/>
                  <a:pt x="9876937" y="2082751"/>
                </a:cubicBezTo>
                <a:cubicBezTo>
                  <a:pt x="9925048" y="2082751"/>
                  <a:pt x="9971500" y="2109197"/>
                  <a:pt x="9994727" y="2152172"/>
                </a:cubicBezTo>
                <a:cubicBezTo>
                  <a:pt x="9994727" y="2152172"/>
                  <a:pt x="9994727" y="2152172"/>
                  <a:pt x="10379617" y="2814978"/>
                </a:cubicBezTo>
                <a:cubicBezTo>
                  <a:pt x="10404502" y="2856301"/>
                  <a:pt x="10404502" y="2909193"/>
                  <a:pt x="10379617" y="2950515"/>
                </a:cubicBezTo>
                <a:cubicBezTo>
                  <a:pt x="10379617" y="2950515"/>
                  <a:pt x="10379617" y="2950515"/>
                  <a:pt x="9994727" y="3613321"/>
                </a:cubicBezTo>
                <a:cubicBezTo>
                  <a:pt x="9971500" y="3656296"/>
                  <a:pt x="9925048" y="3682742"/>
                  <a:pt x="9876937" y="3682742"/>
                </a:cubicBezTo>
                <a:cubicBezTo>
                  <a:pt x="9876937" y="3682742"/>
                  <a:pt x="9876937" y="3682742"/>
                  <a:pt x="9108816" y="3682742"/>
                </a:cubicBezTo>
                <a:cubicBezTo>
                  <a:pt x="9059045" y="3682742"/>
                  <a:pt x="9014252" y="3656296"/>
                  <a:pt x="8989367" y="3613321"/>
                </a:cubicBezTo>
                <a:cubicBezTo>
                  <a:pt x="8989367" y="3613321"/>
                  <a:pt x="8989367" y="3613321"/>
                  <a:pt x="8606137" y="2950515"/>
                </a:cubicBezTo>
                <a:cubicBezTo>
                  <a:pt x="8581251" y="2909193"/>
                  <a:pt x="8581251" y="2856301"/>
                  <a:pt x="8606137" y="2814978"/>
                </a:cubicBezTo>
                <a:cubicBezTo>
                  <a:pt x="8606137" y="2814978"/>
                  <a:pt x="8606137" y="2814978"/>
                  <a:pt x="8989367" y="2152172"/>
                </a:cubicBezTo>
                <a:cubicBezTo>
                  <a:pt x="9014252" y="2109197"/>
                  <a:pt x="9059045" y="2082751"/>
                  <a:pt x="9108816" y="2082751"/>
                </a:cubicBezTo>
                <a:close/>
                <a:moveTo>
                  <a:pt x="1321854" y="2071857"/>
                </a:moveTo>
                <a:cubicBezTo>
                  <a:pt x="1321854" y="2071857"/>
                  <a:pt x="1321854" y="2071857"/>
                  <a:pt x="5365317" y="2071857"/>
                </a:cubicBezTo>
                <a:cubicBezTo>
                  <a:pt x="5618580" y="2071857"/>
                  <a:pt x="5863108" y="2211072"/>
                  <a:pt x="5985373" y="2437296"/>
                </a:cubicBezTo>
                <a:cubicBezTo>
                  <a:pt x="5985373" y="2437296"/>
                  <a:pt x="5985373" y="2437296"/>
                  <a:pt x="8011470" y="5926372"/>
                </a:cubicBezTo>
                <a:cubicBezTo>
                  <a:pt x="8142468" y="6143896"/>
                  <a:pt x="8142468" y="6422327"/>
                  <a:pt x="8011470" y="6639850"/>
                </a:cubicBezTo>
                <a:cubicBezTo>
                  <a:pt x="8011470" y="6639850"/>
                  <a:pt x="8011470" y="6639850"/>
                  <a:pt x="7904625" y="6823844"/>
                </a:cubicBezTo>
                <a:lnTo>
                  <a:pt x="7884791" y="6858000"/>
                </a:lnTo>
                <a:lnTo>
                  <a:pt x="0" y="6858000"/>
                </a:lnTo>
                <a:lnTo>
                  <a:pt x="0" y="3635967"/>
                </a:lnTo>
                <a:lnTo>
                  <a:pt x="27177" y="3588964"/>
                </a:lnTo>
                <a:cubicBezTo>
                  <a:pt x="220245" y="3255048"/>
                  <a:pt x="440895" y="2873431"/>
                  <a:pt x="693065" y="2437296"/>
                </a:cubicBezTo>
                <a:cubicBezTo>
                  <a:pt x="824063" y="2211072"/>
                  <a:pt x="1059859" y="2071857"/>
                  <a:pt x="1321854" y="2071857"/>
                </a:cubicBezTo>
                <a:close/>
                <a:moveTo>
                  <a:pt x="6786399" y="753840"/>
                </a:moveTo>
                <a:cubicBezTo>
                  <a:pt x="6786399" y="753840"/>
                  <a:pt x="6786399" y="753840"/>
                  <a:pt x="8025968" y="753840"/>
                </a:cubicBezTo>
                <a:cubicBezTo>
                  <a:pt x="8103608" y="753840"/>
                  <a:pt x="8178571" y="796518"/>
                  <a:pt x="8216053" y="865869"/>
                </a:cubicBezTo>
                <a:cubicBezTo>
                  <a:pt x="8216053" y="865869"/>
                  <a:pt x="8216053" y="865869"/>
                  <a:pt x="8837177" y="1935484"/>
                </a:cubicBezTo>
                <a:cubicBezTo>
                  <a:pt x="8877335" y="2002169"/>
                  <a:pt x="8877335" y="2087523"/>
                  <a:pt x="8837177" y="2154207"/>
                </a:cubicBezTo>
                <a:cubicBezTo>
                  <a:pt x="8837177" y="2154207"/>
                  <a:pt x="8837177" y="2154207"/>
                  <a:pt x="8216053" y="3223823"/>
                </a:cubicBezTo>
                <a:cubicBezTo>
                  <a:pt x="8178571" y="3293174"/>
                  <a:pt x="8103608" y="3335852"/>
                  <a:pt x="8025968" y="3335852"/>
                </a:cubicBezTo>
                <a:cubicBezTo>
                  <a:pt x="8025968" y="3335852"/>
                  <a:pt x="8025968" y="3335852"/>
                  <a:pt x="6786399" y="3335852"/>
                </a:cubicBezTo>
                <a:cubicBezTo>
                  <a:pt x="6706082" y="3335852"/>
                  <a:pt x="6633796" y="3293174"/>
                  <a:pt x="6593637" y="3223823"/>
                </a:cubicBezTo>
                <a:cubicBezTo>
                  <a:pt x="6593637" y="3223823"/>
                  <a:pt x="6593637" y="3223823"/>
                  <a:pt x="5975192" y="2154207"/>
                </a:cubicBezTo>
                <a:cubicBezTo>
                  <a:pt x="5935033" y="2087523"/>
                  <a:pt x="5935033" y="2002169"/>
                  <a:pt x="5975192" y="1935484"/>
                </a:cubicBezTo>
                <a:cubicBezTo>
                  <a:pt x="5975192" y="1935484"/>
                  <a:pt x="5975192" y="1935484"/>
                  <a:pt x="6593637" y="865869"/>
                </a:cubicBezTo>
                <a:cubicBezTo>
                  <a:pt x="6633796" y="796518"/>
                  <a:pt x="6706082" y="753840"/>
                  <a:pt x="6786399" y="753840"/>
                </a:cubicBezTo>
                <a:close/>
                <a:moveTo>
                  <a:pt x="0" y="0"/>
                </a:moveTo>
                <a:lnTo>
                  <a:pt x="6966294" y="0"/>
                </a:lnTo>
                <a:lnTo>
                  <a:pt x="6852387" y="196155"/>
                </a:lnTo>
                <a:cubicBezTo>
                  <a:pt x="6627011" y="584267"/>
                  <a:pt x="6359899" y="1044253"/>
                  <a:pt x="6043322" y="1589421"/>
                </a:cubicBezTo>
                <a:cubicBezTo>
                  <a:pt x="5921057" y="1815646"/>
                  <a:pt x="5676528" y="1954861"/>
                  <a:pt x="5423265" y="1954861"/>
                </a:cubicBezTo>
                <a:cubicBezTo>
                  <a:pt x="5423265" y="1954861"/>
                  <a:pt x="5423265" y="1954861"/>
                  <a:pt x="1379802" y="1954861"/>
                </a:cubicBezTo>
                <a:cubicBezTo>
                  <a:pt x="1117807" y="1954861"/>
                  <a:pt x="882012" y="1815646"/>
                  <a:pt x="751013" y="1589421"/>
                </a:cubicBezTo>
                <a:cubicBezTo>
                  <a:pt x="751013" y="1589421"/>
                  <a:pt x="751013" y="1589421"/>
                  <a:pt x="1951" y="293901"/>
                </a:cubicBezTo>
                <a:lnTo>
                  <a:pt x="0" y="290527"/>
                </a:lnTo>
                <a:close/>
              </a:path>
            </a:pathLst>
          </a:custGeom>
        </p:spPr>
      </p:pic>
      <p:sp>
        <p:nvSpPr>
          <p:cNvPr id="10" name="Rectangle 9">
            <a:extLst>
              <a:ext uri="{FF2B5EF4-FFF2-40B4-BE49-F238E27FC236}">
                <a16:creationId xmlns:a16="http://schemas.microsoft.com/office/drawing/2014/main" id="{6B05F372-80DF-EBA8-E751-495DF7B3A947}"/>
              </a:ext>
            </a:extLst>
          </p:cNvPr>
          <p:cNvSpPr/>
          <p:nvPr/>
        </p:nvSpPr>
        <p:spPr>
          <a:xfrm>
            <a:off x="147473" y="286555"/>
            <a:ext cx="2901601" cy="2597653"/>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ea typeface="+mn-lt"/>
                <a:cs typeface="+mn-lt"/>
              </a:rPr>
              <a:t>De quelle manière le bien-être au travail contribue-t-il à la performance</a:t>
            </a:r>
            <a:endParaRPr lang="fr-FR" sz="2800">
              <a:cs typeface="Calibri"/>
            </a:endParaRPr>
          </a:p>
          <a:p>
            <a:pPr algn="ctr"/>
            <a:r>
              <a:rPr lang="fr-FR" sz="2800" dirty="0">
                <a:ea typeface="+mn-lt"/>
                <a:cs typeface="+mn-lt"/>
              </a:rPr>
              <a:t>de l’organisation ?</a:t>
            </a:r>
            <a:endParaRPr lang="fr-FR" sz="2800">
              <a:cs typeface="Calibri"/>
            </a:endParaRPr>
          </a:p>
        </p:txBody>
      </p:sp>
    </p:spTree>
    <p:extLst>
      <p:ext uri="{BB962C8B-B14F-4D97-AF65-F5344CB8AC3E}">
        <p14:creationId xmlns:p14="http://schemas.microsoft.com/office/powerpoint/2010/main" val="190178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54" name="ZoneTexte 53">
            <a:extLst>
              <a:ext uri="{FF2B5EF4-FFF2-40B4-BE49-F238E27FC236}">
                <a16:creationId xmlns:a16="http://schemas.microsoft.com/office/drawing/2014/main" id="{36CABF1C-2311-3924-0022-2B50E3A3786E}"/>
              </a:ext>
            </a:extLst>
          </p:cNvPr>
          <p:cNvSpPr txBox="1"/>
          <p:nvPr/>
        </p:nvSpPr>
        <p:spPr>
          <a:xfrm>
            <a:off x="5304692" y="2074984"/>
            <a:ext cx="607059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8000" b="1" i="1" dirty="0">
                <a:solidFill>
                  <a:schemeClr val="tx1">
                    <a:lumMod val="95000"/>
                    <a:lumOff val="5000"/>
                  </a:schemeClr>
                </a:solidFill>
                <a:latin typeface="Times New Roman"/>
                <a:cs typeface="Calibri"/>
              </a:rPr>
              <a:t>SOMMAIRE</a:t>
            </a:r>
            <a:endParaRPr lang="fr-FR" sz="6600" b="1" i="1" dirty="0">
              <a:solidFill>
                <a:schemeClr val="tx1">
                  <a:lumMod val="95000"/>
                  <a:lumOff val="5000"/>
                </a:schemeClr>
              </a:solidFill>
              <a:latin typeface="Times New Roman"/>
              <a:cs typeface="Times New Roman"/>
            </a:endParaRPr>
          </a:p>
        </p:txBody>
      </p:sp>
      <p:grpSp>
        <p:nvGrpSpPr>
          <p:cNvPr id="17" name="Groupe 16">
            <a:extLst>
              <a:ext uri="{FF2B5EF4-FFF2-40B4-BE49-F238E27FC236}">
                <a16:creationId xmlns:a16="http://schemas.microsoft.com/office/drawing/2014/main" id="{1F340F4E-CF22-1563-C65C-230BC3F3F020}"/>
              </a:ext>
            </a:extLst>
          </p:cNvPr>
          <p:cNvGrpSpPr/>
          <p:nvPr/>
        </p:nvGrpSpPr>
        <p:grpSpPr>
          <a:xfrm>
            <a:off x="1957" y="3906"/>
            <a:ext cx="11805138" cy="6857999"/>
            <a:chOff x="1957" y="3906"/>
            <a:chExt cx="11805138" cy="6857999"/>
          </a:xfrm>
        </p:grpSpPr>
        <p:grpSp>
          <p:nvGrpSpPr>
            <p:cNvPr id="7" name="Groupe 6">
              <a:extLst>
                <a:ext uri="{FF2B5EF4-FFF2-40B4-BE49-F238E27FC236}">
                  <a16:creationId xmlns:a16="http://schemas.microsoft.com/office/drawing/2014/main" id="{0C715E04-02DC-7660-BBF9-2BE1F11A33B1}"/>
                </a:ext>
              </a:extLst>
            </p:cNvPr>
            <p:cNvGrpSpPr/>
            <p:nvPr/>
          </p:nvGrpSpPr>
          <p:grpSpPr>
            <a:xfrm>
              <a:off x="1957" y="3906"/>
              <a:ext cx="11805138" cy="6857999"/>
              <a:chOff x="40306" y="130907"/>
              <a:chExt cx="11336941" cy="6857999"/>
            </a:xfrm>
          </p:grpSpPr>
          <p:grpSp>
            <p:nvGrpSpPr>
              <p:cNvPr id="4" name="Groupe 3">
                <a:extLst>
                  <a:ext uri="{FF2B5EF4-FFF2-40B4-BE49-F238E27FC236}">
                    <a16:creationId xmlns:a16="http://schemas.microsoft.com/office/drawing/2014/main" id="{AEC5EDAF-392B-6055-3DC9-468FBEC0ED58}"/>
                  </a:ext>
                </a:extLst>
              </p:cNvPr>
              <p:cNvGrpSpPr/>
              <p:nvPr/>
            </p:nvGrpSpPr>
            <p:grpSpPr>
              <a:xfrm>
                <a:off x="40306" y="130907"/>
                <a:ext cx="11138623" cy="6857999"/>
                <a:chOff x="39501" y="130907"/>
                <a:chExt cx="10904967" cy="6857999"/>
              </a:xfrm>
            </p:grpSpPr>
            <p:sp>
              <p:nvSpPr>
                <p:cNvPr id="2" name="Rectangle 1">
                  <a:extLst>
                    <a:ext uri="{FF2B5EF4-FFF2-40B4-BE49-F238E27FC236}">
                      <a16:creationId xmlns:a16="http://schemas.microsoft.com/office/drawing/2014/main" id="{AC4CCF7A-89A9-F322-5399-7AC3555B3C19}"/>
                    </a:ext>
                  </a:extLst>
                </p:cNvPr>
                <p:cNvSpPr/>
                <p:nvPr/>
              </p:nvSpPr>
              <p:spPr>
                <a:xfrm>
                  <a:off x="39501" y="130907"/>
                  <a:ext cx="10296768"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 coins arrondis 2">
                  <a:extLst>
                    <a:ext uri="{FF2B5EF4-FFF2-40B4-BE49-F238E27FC236}">
                      <a16:creationId xmlns:a16="http://schemas.microsoft.com/office/drawing/2014/main" id="{1D24E7C9-1B33-2062-A62B-0AA4B74A6D9E}"/>
                    </a:ext>
                  </a:extLst>
                </p:cNvPr>
                <p:cNvSpPr/>
                <p:nvPr/>
              </p:nvSpPr>
              <p:spPr>
                <a:xfrm rot="5400000">
                  <a:off x="10099430" y="486507"/>
                  <a:ext cx="947615" cy="74246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 name="ZoneTexte 4">
                <a:extLst>
                  <a:ext uri="{FF2B5EF4-FFF2-40B4-BE49-F238E27FC236}">
                    <a16:creationId xmlns:a16="http://schemas.microsoft.com/office/drawing/2014/main" id="{A8BD77D6-D13E-773D-82F0-776EA64918E9}"/>
                  </a:ext>
                </a:extLst>
              </p:cNvPr>
              <p:cNvSpPr txBox="1"/>
              <p:nvPr/>
            </p:nvSpPr>
            <p:spPr>
              <a:xfrm>
                <a:off x="10580078" y="461107"/>
                <a:ext cx="79716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4500" dirty="0">
                    <a:solidFill>
                      <a:schemeClr val="bg1"/>
                    </a:solidFill>
                    <a:latin typeface="Georgia Pro Cond Black"/>
                    <a:cs typeface="Calibri"/>
                  </a:rPr>
                  <a:t>1</a:t>
                </a:r>
              </a:p>
            </p:txBody>
          </p:sp>
        </p:grpSp>
        <p:pic>
          <p:nvPicPr>
            <p:cNvPr id="13" name="Graphique 82" descr="Dossier avec un remplissage uni">
              <a:extLst>
                <a:ext uri="{FF2B5EF4-FFF2-40B4-BE49-F238E27FC236}">
                  <a16:creationId xmlns:a16="http://schemas.microsoft.com/office/drawing/2014/main" id="{058DF584-B929-4246-FC5D-3968C00C05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96877" y="2463800"/>
              <a:ext cx="1598246" cy="1598246"/>
            </a:xfrm>
            <a:prstGeom prst="rect">
              <a:avLst/>
            </a:prstGeom>
          </p:spPr>
        </p:pic>
        <p:pic>
          <p:nvPicPr>
            <p:cNvPr id="14" name="Graphique 83" descr="Poignée de main contour">
              <a:extLst>
                <a:ext uri="{FF2B5EF4-FFF2-40B4-BE49-F238E27FC236}">
                  <a16:creationId xmlns:a16="http://schemas.microsoft.com/office/drawing/2014/main" id="{C31702C7-F969-E075-2528-7A5D297B94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8521" y="1629752"/>
              <a:ext cx="1608015" cy="1608015"/>
            </a:xfrm>
            <a:prstGeom prst="rect">
              <a:avLst/>
            </a:prstGeom>
          </p:spPr>
        </p:pic>
        <p:pic>
          <p:nvPicPr>
            <p:cNvPr id="15" name="Graphique 84" descr="Poignée de main avec un remplissage uni">
              <a:extLst>
                <a:ext uri="{FF2B5EF4-FFF2-40B4-BE49-F238E27FC236}">
                  <a16:creationId xmlns:a16="http://schemas.microsoft.com/office/drawing/2014/main" id="{7628887B-93CA-89A0-0F72-FBD899049B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87627" y="3951166"/>
              <a:ext cx="1666630" cy="1656861"/>
            </a:xfrm>
            <a:prstGeom prst="rect">
              <a:avLst/>
            </a:prstGeom>
          </p:spPr>
        </p:pic>
        <p:sp>
          <p:nvSpPr>
            <p:cNvPr id="16" name="ZoneTexte 1">
              <a:extLst>
                <a:ext uri="{FF2B5EF4-FFF2-40B4-BE49-F238E27FC236}">
                  <a16:creationId xmlns:a16="http://schemas.microsoft.com/office/drawing/2014/main" id="{08E002FA-799E-841C-0F8A-D8A5CBC09991}"/>
                </a:ext>
              </a:extLst>
            </p:cNvPr>
            <p:cNvSpPr txBox="1"/>
            <p:nvPr/>
          </p:nvSpPr>
          <p:spPr>
            <a:xfrm>
              <a:off x="5490308" y="212968"/>
              <a:ext cx="4374661"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5400" b="1" i="1" dirty="0">
                  <a:solidFill>
                    <a:srgbClr val="FFC000"/>
                  </a:solidFill>
                  <a:latin typeface="Cambria"/>
                  <a:ea typeface="Cambria"/>
                  <a:cs typeface="Calibri"/>
                </a:rPr>
                <a:t>introduction</a:t>
              </a:r>
              <a:endParaRPr lang="fr-FR" sz="5400" b="1" i="1" dirty="0">
                <a:solidFill>
                  <a:srgbClr val="FFC000"/>
                </a:solidFill>
                <a:latin typeface="Cambria"/>
                <a:ea typeface="Cambria"/>
              </a:endParaRPr>
            </a:p>
          </p:txBody>
        </p:sp>
      </p:grpSp>
      <p:grpSp>
        <p:nvGrpSpPr>
          <p:cNvPr id="12" name="Groupe 11">
            <a:extLst>
              <a:ext uri="{FF2B5EF4-FFF2-40B4-BE49-F238E27FC236}">
                <a16:creationId xmlns:a16="http://schemas.microsoft.com/office/drawing/2014/main" id="{50C621D5-BAE6-D5EB-8809-866F4017D004}"/>
              </a:ext>
            </a:extLst>
          </p:cNvPr>
          <p:cNvGrpSpPr/>
          <p:nvPr/>
        </p:nvGrpSpPr>
        <p:grpSpPr>
          <a:xfrm>
            <a:off x="1953" y="3906"/>
            <a:ext cx="10408141" cy="6857999"/>
            <a:chOff x="-3192586" y="-35173"/>
            <a:chExt cx="10408141" cy="6857999"/>
          </a:xfrm>
        </p:grpSpPr>
        <p:grpSp>
          <p:nvGrpSpPr>
            <p:cNvPr id="29" name="Groupe 28">
              <a:extLst>
                <a:ext uri="{FF2B5EF4-FFF2-40B4-BE49-F238E27FC236}">
                  <a16:creationId xmlns:a16="http://schemas.microsoft.com/office/drawing/2014/main" id="{6A50CD5F-74DC-978B-99B2-ADC53B288353}"/>
                </a:ext>
              </a:extLst>
            </p:cNvPr>
            <p:cNvGrpSpPr/>
            <p:nvPr/>
          </p:nvGrpSpPr>
          <p:grpSpPr>
            <a:xfrm>
              <a:off x="-3192586" y="-35173"/>
              <a:ext cx="10408141" cy="6857999"/>
              <a:chOff x="-154356" y="140674"/>
              <a:chExt cx="10408141" cy="6857999"/>
            </a:xfrm>
          </p:grpSpPr>
          <p:sp>
            <p:nvSpPr>
              <p:cNvPr id="26" name="Rectangle 25">
                <a:extLst>
                  <a:ext uri="{FF2B5EF4-FFF2-40B4-BE49-F238E27FC236}">
                    <a16:creationId xmlns:a16="http://schemas.microsoft.com/office/drawing/2014/main" id="{6AC071B5-F39F-29C1-E77B-7B97D2594243}"/>
                  </a:ext>
                </a:extLst>
              </p:cNvPr>
              <p:cNvSpPr/>
              <p:nvPr/>
            </p:nvSpPr>
            <p:spPr>
              <a:xfrm>
                <a:off x="-154356" y="140674"/>
                <a:ext cx="9501393" cy="6857999"/>
              </a:xfrm>
              <a:prstGeom prst="rect">
                <a:avLst/>
              </a:prstGeom>
              <a:solidFill>
                <a:srgbClr val="5453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8" name="Groupe 27">
                <a:extLst>
                  <a:ext uri="{FF2B5EF4-FFF2-40B4-BE49-F238E27FC236}">
                    <a16:creationId xmlns:a16="http://schemas.microsoft.com/office/drawing/2014/main" id="{A209F28C-10F9-EDD1-342D-5206C37BE977}"/>
                  </a:ext>
                </a:extLst>
              </p:cNvPr>
              <p:cNvGrpSpPr/>
              <p:nvPr/>
            </p:nvGrpSpPr>
            <p:grpSpPr>
              <a:xfrm>
                <a:off x="9297098" y="1253390"/>
                <a:ext cx="956687" cy="947615"/>
                <a:chOff x="11133713" y="3060698"/>
                <a:chExt cx="956687" cy="947615"/>
              </a:xfrm>
            </p:grpSpPr>
            <p:sp>
              <p:nvSpPr>
                <p:cNvPr id="27" name="Rectangle : coins arrondis 26">
                  <a:extLst>
                    <a:ext uri="{FF2B5EF4-FFF2-40B4-BE49-F238E27FC236}">
                      <a16:creationId xmlns:a16="http://schemas.microsoft.com/office/drawing/2014/main" id="{F2F07621-DD8B-A655-E671-6BA955031B6E}"/>
                    </a:ext>
                  </a:extLst>
                </p:cNvPr>
                <p:cNvSpPr/>
                <p:nvPr/>
              </p:nvSpPr>
              <p:spPr>
                <a:xfrm rot="5400000">
                  <a:off x="11039090" y="3155321"/>
                  <a:ext cx="947615" cy="758369"/>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3C581B01-41F4-48C7-A439-5A4928DCF0C5}"/>
                    </a:ext>
                  </a:extLst>
                </p:cNvPr>
                <p:cNvSpPr txBox="1"/>
                <p:nvPr/>
              </p:nvSpPr>
              <p:spPr>
                <a:xfrm>
                  <a:off x="11293231" y="3128106"/>
                  <a:ext cx="79716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4500" dirty="0">
                      <a:solidFill>
                        <a:schemeClr val="bg1"/>
                      </a:solidFill>
                      <a:latin typeface="Georgia Pro Cond Black"/>
                      <a:cs typeface="Calibri"/>
                    </a:rPr>
                    <a:t>2</a:t>
                  </a:r>
                </a:p>
              </p:txBody>
            </p:sp>
          </p:grpSp>
        </p:grpSp>
        <p:sp>
          <p:nvSpPr>
            <p:cNvPr id="8" name="ZoneTexte 1">
              <a:extLst>
                <a:ext uri="{FF2B5EF4-FFF2-40B4-BE49-F238E27FC236}">
                  <a16:creationId xmlns:a16="http://schemas.microsoft.com/office/drawing/2014/main" id="{13A8B9BA-EB86-4B42-380D-541E7A1F6DAE}"/>
                </a:ext>
              </a:extLst>
            </p:cNvPr>
            <p:cNvSpPr txBox="1"/>
            <p:nvPr/>
          </p:nvSpPr>
          <p:spPr>
            <a:xfrm>
              <a:off x="1839690" y="183662"/>
              <a:ext cx="3599498"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5400" b="1" i="1" dirty="0">
                  <a:solidFill>
                    <a:schemeClr val="bg1"/>
                  </a:solidFill>
                  <a:cs typeface="Calibri"/>
                </a:rPr>
                <a:t>Définition</a:t>
              </a:r>
            </a:p>
          </p:txBody>
        </p:sp>
        <p:pic>
          <p:nvPicPr>
            <p:cNvPr id="9" name="Graphique 86" descr="Salle de conseil contour">
              <a:extLst>
                <a:ext uri="{FF2B5EF4-FFF2-40B4-BE49-F238E27FC236}">
                  <a16:creationId xmlns:a16="http://schemas.microsoft.com/office/drawing/2014/main" id="{81C89A8B-ABBE-FB4D-BE5B-6939132AFA5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81386" y="1428262"/>
              <a:ext cx="1763183" cy="1725246"/>
            </a:xfrm>
            <a:prstGeom prst="rect">
              <a:avLst/>
            </a:prstGeom>
          </p:spPr>
        </p:pic>
        <p:pic>
          <p:nvPicPr>
            <p:cNvPr id="10" name="Graphique 87" descr="Porte-documents contour">
              <a:extLst>
                <a:ext uri="{FF2B5EF4-FFF2-40B4-BE49-F238E27FC236}">
                  <a16:creationId xmlns:a16="http://schemas.microsoft.com/office/drawing/2014/main" id="{A6A99DE2-D8B0-1C3E-305C-14D4A6E9CE7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1344" y="2352675"/>
              <a:ext cx="1863023" cy="1803400"/>
            </a:xfrm>
            <a:prstGeom prst="rect">
              <a:avLst/>
            </a:prstGeom>
          </p:spPr>
        </p:pic>
        <p:pic>
          <p:nvPicPr>
            <p:cNvPr id="11" name="Graphique 88" descr="Réunion avec un remplissage uni">
              <a:extLst>
                <a:ext uri="{FF2B5EF4-FFF2-40B4-BE49-F238E27FC236}">
                  <a16:creationId xmlns:a16="http://schemas.microsoft.com/office/drawing/2014/main" id="{B88D82A7-3885-A72B-A2E2-8E8FA1223C8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64393" y="3609243"/>
              <a:ext cx="1833070" cy="1803400"/>
            </a:xfrm>
            <a:prstGeom prst="rect">
              <a:avLst/>
            </a:prstGeom>
          </p:spPr>
        </p:pic>
      </p:grpSp>
      <p:grpSp>
        <p:nvGrpSpPr>
          <p:cNvPr id="22" name="Groupe 21">
            <a:extLst>
              <a:ext uri="{FF2B5EF4-FFF2-40B4-BE49-F238E27FC236}">
                <a16:creationId xmlns:a16="http://schemas.microsoft.com/office/drawing/2014/main" id="{15F3AB87-4BC2-6266-2966-7BBD5CEC2097}"/>
              </a:ext>
            </a:extLst>
          </p:cNvPr>
          <p:cNvGrpSpPr/>
          <p:nvPr/>
        </p:nvGrpSpPr>
        <p:grpSpPr>
          <a:xfrm>
            <a:off x="1950" y="3903"/>
            <a:ext cx="9262207" cy="6857999"/>
            <a:chOff x="-17588" y="3903"/>
            <a:chExt cx="9262207" cy="6857999"/>
          </a:xfrm>
        </p:grpSpPr>
        <p:grpSp>
          <p:nvGrpSpPr>
            <p:cNvPr id="35" name="Groupe 34">
              <a:extLst>
                <a:ext uri="{FF2B5EF4-FFF2-40B4-BE49-F238E27FC236}">
                  <a16:creationId xmlns:a16="http://schemas.microsoft.com/office/drawing/2014/main" id="{669B7233-A715-B694-5787-F342C7FE075D}"/>
                </a:ext>
              </a:extLst>
            </p:cNvPr>
            <p:cNvGrpSpPr/>
            <p:nvPr/>
          </p:nvGrpSpPr>
          <p:grpSpPr>
            <a:xfrm>
              <a:off x="-17588" y="3903"/>
              <a:ext cx="9262207" cy="6857999"/>
              <a:chOff x="4964722" y="-797172"/>
              <a:chExt cx="9262207" cy="6857999"/>
            </a:xfrm>
          </p:grpSpPr>
          <p:sp>
            <p:nvSpPr>
              <p:cNvPr id="36" name="Rectangle 35">
                <a:extLst>
                  <a:ext uri="{FF2B5EF4-FFF2-40B4-BE49-F238E27FC236}">
                    <a16:creationId xmlns:a16="http://schemas.microsoft.com/office/drawing/2014/main" id="{EA54DCE5-B8D2-6168-8A24-7A8DA67A858A}"/>
                  </a:ext>
                </a:extLst>
              </p:cNvPr>
              <p:cNvSpPr/>
              <p:nvPr/>
            </p:nvSpPr>
            <p:spPr>
              <a:xfrm>
                <a:off x="4964722" y="-797172"/>
                <a:ext cx="8602624" cy="6857999"/>
              </a:xfrm>
              <a:prstGeom prst="rect">
                <a:avLst/>
              </a:prstGeom>
              <a:solidFill>
                <a:srgbClr val="737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7" name="Groupe 36">
                <a:extLst>
                  <a:ext uri="{FF2B5EF4-FFF2-40B4-BE49-F238E27FC236}">
                    <a16:creationId xmlns:a16="http://schemas.microsoft.com/office/drawing/2014/main" id="{C6A7BE3A-FAB5-5CF5-112F-E74339E96E47}"/>
                  </a:ext>
                </a:extLst>
              </p:cNvPr>
              <p:cNvGrpSpPr/>
              <p:nvPr/>
            </p:nvGrpSpPr>
            <p:grpSpPr>
              <a:xfrm>
                <a:off x="13468560" y="1360852"/>
                <a:ext cx="758369" cy="947615"/>
                <a:chOff x="15305175" y="3168160"/>
                <a:chExt cx="758369" cy="947615"/>
              </a:xfrm>
            </p:grpSpPr>
            <p:sp>
              <p:nvSpPr>
                <p:cNvPr id="38" name="Rectangle : coins arrondis 37">
                  <a:extLst>
                    <a:ext uri="{FF2B5EF4-FFF2-40B4-BE49-F238E27FC236}">
                      <a16:creationId xmlns:a16="http://schemas.microsoft.com/office/drawing/2014/main" id="{1D6CC4E8-DCFA-5F7A-FD6F-121046CB1FBE}"/>
                    </a:ext>
                  </a:extLst>
                </p:cNvPr>
                <p:cNvSpPr/>
                <p:nvPr/>
              </p:nvSpPr>
              <p:spPr>
                <a:xfrm rot="5400000">
                  <a:off x="15210552" y="3262783"/>
                  <a:ext cx="947615" cy="758369"/>
                </a:xfrm>
                <a:prstGeom prst="roundRect">
                  <a:avLst/>
                </a:prstGeom>
                <a:solidFill>
                  <a:srgbClr val="737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E458096D-6E6B-0FF1-E157-254D4780AF96}"/>
                    </a:ext>
                  </a:extLst>
                </p:cNvPr>
                <p:cNvSpPr txBox="1"/>
                <p:nvPr/>
              </p:nvSpPr>
              <p:spPr>
                <a:xfrm>
                  <a:off x="15357231" y="3245337"/>
                  <a:ext cx="396631"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4500" dirty="0">
                      <a:solidFill>
                        <a:schemeClr val="bg1"/>
                      </a:solidFill>
                      <a:latin typeface="Georgia Pro Cond Black"/>
                      <a:cs typeface="Calibri"/>
                    </a:rPr>
                    <a:t>3</a:t>
                  </a:r>
                </a:p>
              </p:txBody>
            </p:sp>
          </p:grpSp>
        </p:grpSp>
        <p:sp>
          <p:nvSpPr>
            <p:cNvPr id="18" name="ZoneTexte 17">
              <a:extLst>
                <a:ext uri="{FF2B5EF4-FFF2-40B4-BE49-F238E27FC236}">
                  <a16:creationId xmlns:a16="http://schemas.microsoft.com/office/drawing/2014/main" id="{3BCE1253-01E8-BD3E-D35D-FE1287C0AF19}"/>
                </a:ext>
              </a:extLst>
            </p:cNvPr>
            <p:cNvSpPr txBox="1"/>
            <p:nvPr/>
          </p:nvSpPr>
          <p:spPr>
            <a:xfrm>
              <a:off x="4622800" y="74246"/>
              <a:ext cx="305972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7200" b="1" i="1" dirty="0">
                  <a:solidFill>
                    <a:schemeClr val="accent4">
                      <a:lumMod val="60000"/>
                      <a:lumOff val="40000"/>
                    </a:schemeClr>
                  </a:solidFill>
                  <a:cs typeface="Calibri"/>
                </a:rPr>
                <a:t>QVT</a:t>
              </a:r>
            </a:p>
          </p:txBody>
        </p:sp>
        <p:pic>
          <p:nvPicPr>
            <p:cNvPr id="19" name="Graphique 19" descr="Carnet d'adresses contour">
              <a:extLst>
                <a:ext uri="{FF2B5EF4-FFF2-40B4-BE49-F238E27FC236}">
                  <a16:creationId xmlns:a16="http://schemas.microsoft.com/office/drawing/2014/main" id="{40A44CD9-EC44-8159-C1AA-4772EF7A028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255108" y="1809261"/>
              <a:ext cx="1432169" cy="1432169"/>
            </a:xfrm>
            <a:prstGeom prst="rect">
              <a:avLst/>
            </a:prstGeom>
          </p:spPr>
        </p:pic>
        <p:pic>
          <p:nvPicPr>
            <p:cNvPr id="20" name="Graphique 20" descr="Conseil d’administration avec un remplissage uni">
              <a:extLst>
                <a:ext uri="{FF2B5EF4-FFF2-40B4-BE49-F238E27FC236}">
                  <a16:creationId xmlns:a16="http://schemas.microsoft.com/office/drawing/2014/main" id="{0739D34A-6D4B-AB64-61FF-10129B7FF23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674214" y="1717674"/>
              <a:ext cx="1598246" cy="1617784"/>
            </a:xfrm>
            <a:prstGeom prst="rect">
              <a:avLst/>
            </a:prstGeom>
          </p:spPr>
        </p:pic>
        <p:pic>
          <p:nvPicPr>
            <p:cNvPr id="21" name="Graphique 21" descr="Vivats avec un remplissage uni">
              <a:extLst>
                <a:ext uri="{FF2B5EF4-FFF2-40B4-BE49-F238E27FC236}">
                  <a16:creationId xmlns:a16="http://schemas.microsoft.com/office/drawing/2014/main" id="{2FF4CF20-1B27-B17D-98AD-55FB979C64F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81550" y="3843703"/>
              <a:ext cx="1774092" cy="1793630"/>
            </a:xfrm>
            <a:prstGeom prst="rect">
              <a:avLst/>
            </a:prstGeom>
          </p:spPr>
        </p:pic>
      </p:grpSp>
      <p:grpSp>
        <p:nvGrpSpPr>
          <p:cNvPr id="32" name="Groupe 31">
            <a:extLst>
              <a:ext uri="{FF2B5EF4-FFF2-40B4-BE49-F238E27FC236}">
                <a16:creationId xmlns:a16="http://schemas.microsoft.com/office/drawing/2014/main" id="{6A9F2203-0EC6-FF9A-8C42-DC2D5A000979}"/>
              </a:ext>
            </a:extLst>
          </p:cNvPr>
          <p:cNvGrpSpPr/>
          <p:nvPr/>
        </p:nvGrpSpPr>
        <p:grpSpPr>
          <a:xfrm>
            <a:off x="1950" y="3905"/>
            <a:ext cx="8663357" cy="6857999"/>
            <a:chOff x="1949" y="72289"/>
            <a:chExt cx="8663357" cy="6857999"/>
          </a:xfrm>
        </p:grpSpPr>
        <p:grpSp>
          <p:nvGrpSpPr>
            <p:cNvPr id="45" name="Groupe 44">
              <a:extLst>
                <a:ext uri="{FF2B5EF4-FFF2-40B4-BE49-F238E27FC236}">
                  <a16:creationId xmlns:a16="http://schemas.microsoft.com/office/drawing/2014/main" id="{D7F281B7-C9B9-B1DB-9286-0A889F87F6F4}"/>
                </a:ext>
              </a:extLst>
            </p:cNvPr>
            <p:cNvGrpSpPr/>
            <p:nvPr/>
          </p:nvGrpSpPr>
          <p:grpSpPr>
            <a:xfrm>
              <a:off x="1949" y="72289"/>
              <a:ext cx="8663357" cy="6857999"/>
              <a:chOff x="803029" y="-445480"/>
              <a:chExt cx="8663357" cy="6857999"/>
            </a:xfrm>
          </p:grpSpPr>
          <p:sp>
            <p:nvSpPr>
              <p:cNvPr id="46" name="Rectangle 45">
                <a:extLst>
                  <a:ext uri="{FF2B5EF4-FFF2-40B4-BE49-F238E27FC236}">
                    <a16:creationId xmlns:a16="http://schemas.microsoft.com/office/drawing/2014/main" id="{B8A29451-7726-72A3-8DF4-73DA33CD72B1}"/>
                  </a:ext>
                </a:extLst>
              </p:cNvPr>
              <p:cNvSpPr/>
              <p:nvPr/>
            </p:nvSpPr>
            <p:spPr>
              <a:xfrm>
                <a:off x="803029" y="-445480"/>
                <a:ext cx="7645240" cy="6857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47" name="Groupe 46">
                <a:extLst>
                  <a:ext uri="{FF2B5EF4-FFF2-40B4-BE49-F238E27FC236}">
                    <a16:creationId xmlns:a16="http://schemas.microsoft.com/office/drawing/2014/main" id="{E095E5EC-5CE6-72B0-FFD1-1598C1903418}"/>
                  </a:ext>
                </a:extLst>
              </p:cNvPr>
              <p:cNvGrpSpPr/>
              <p:nvPr/>
            </p:nvGrpSpPr>
            <p:grpSpPr>
              <a:xfrm>
                <a:off x="8300637" y="2582006"/>
                <a:ext cx="1165749" cy="947615"/>
                <a:chOff x="10137252" y="4389314"/>
                <a:chExt cx="1165749" cy="947615"/>
              </a:xfrm>
            </p:grpSpPr>
            <p:sp>
              <p:nvSpPr>
                <p:cNvPr id="48" name="Rectangle : coins arrondis 47">
                  <a:extLst>
                    <a:ext uri="{FF2B5EF4-FFF2-40B4-BE49-F238E27FC236}">
                      <a16:creationId xmlns:a16="http://schemas.microsoft.com/office/drawing/2014/main" id="{23106526-530B-4B43-C9BB-9360DA25B665}"/>
                    </a:ext>
                  </a:extLst>
                </p:cNvPr>
                <p:cNvSpPr/>
                <p:nvPr/>
              </p:nvSpPr>
              <p:spPr>
                <a:xfrm rot="5400000">
                  <a:off x="10042629" y="4483937"/>
                  <a:ext cx="947615" cy="758369"/>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ZoneTexte 48">
                  <a:extLst>
                    <a:ext uri="{FF2B5EF4-FFF2-40B4-BE49-F238E27FC236}">
                      <a16:creationId xmlns:a16="http://schemas.microsoft.com/office/drawing/2014/main" id="{824F1B58-5550-299A-49B0-7BAD26ACD0AC}"/>
                    </a:ext>
                  </a:extLst>
                </p:cNvPr>
                <p:cNvSpPr txBox="1"/>
                <p:nvPr/>
              </p:nvSpPr>
              <p:spPr>
                <a:xfrm flipH="1">
                  <a:off x="10273325" y="4466492"/>
                  <a:ext cx="102967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4500" dirty="0">
                      <a:solidFill>
                        <a:schemeClr val="bg1"/>
                      </a:solidFill>
                      <a:latin typeface="Georgia Pro Cond Black"/>
                      <a:cs typeface="Calibri"/>
                    </a:rPr>
                    <a:t>4</a:t>
                  </a:r>
                </a:p>
              </p:txBody>
            </p:sp>
          </p:grpSp>
        </p:grpSp>
        <p:sp>
          <p:nvSpPr>
            <p:cNvPr id="23" name="ZoneTexte 22">
              <a:extLst>
                <a:ext uri="{FF2B5EF4-FFF2-40B4-BE49-F238E27FC236}">
                  <a16:creationId xmlns:a16="http://schemas.microsoft.com/office/drawing/2014/main" id="{F8BC0F7B-465E-A839-4ACF-C08C4518938F}"/>
                </a:ext>
              </a:extLst>
            </p:cNvPr>
            <p:cNvSpPr txBox="1"/>
            <p:nvPr/>
          </p:nvSpPr>
          <p:spPr>
            <a:xfrm>
              <a:off x="2516554" y="318477"/>
              <a:ext cx="422812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i="1" noProof="1">
                  <a:solidFill>
                    <a:schemeClr val="tx1">
                      <a:lumMod val="95000"/>
                      <a:lumOff val="5000"/>
                    </a:schemeClr>
                  </a:solidFill>
                  <a:latin typeface="Times New Roman"/>
                  <a:cs typeface="Arial"/>
                </a:rPr>
                <a:t>Qui s'occupe du bien-être au travail ?</a:t>
              </a:r>
              <a:r>
                <a:rPr lang="en-US" sz="3600" noProof="1">
                  <a:solidFill>
                    <a:schemeClr val="tx1">
                      <a:lumMod val="95000"/>
                      <a:lumOff val="5000"/>
                    </a:schemeClr>
                  </a:solidFill>
                  <a:latin typeface="Times New Roman"/>
                  <a:cs typeface="Arial"/>
                </a:rPr>
                <a:t>​</a:t>
              </a:r>
              <a:endParaRPr lang="fr-FR" sz="3600" noProof="1">
                <a:solidFill>
                  <a:schemeClr val="tx1">
                    <a:lumMod val="95000"/>
                    <a:lumOff val="5000"/>
                  </a:schemeClr>
                </a:solidFill>
              </a:endParaRPr>
            </a:p>
          </p:txBody>
        </p:sp>
        <p:pic>
          <p:nvPicPr>
            <p:cNvPr id="24" name="Graphique 29" descr="Réunion avec un remplissage uni">
              <a:extLst>
                <a:ext uri="{FF2B5EF4-FFF2-40B4-BE49-F238E27FC236}">
                  <a16:creationId xmlns:a16="http://schemas.microsoft.com/office/drawing/2014/main" id="{466E633E-1FE6-FB37-5FAD-5F798DE1E629}"/>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411416" y="2795954"/>
              <a:ext cx="1334476" cy="1324707"/>
            </a:xfrm>
            <a:prstGeom prst="rect">
              <a:avLst/>
            </a:prstGeom>
          </p:spPr>
        </p:pic>
        <p:pic>
          <p:nvPicPr>
            <p:cNvPr id="30" name="Graphique 30" descr="Gestion contour">
              <a:extLst>
                <a:ext uri="{FF2B5EF4-FFF2-40B4-BE49-F238E27FC236}">
                  <a16:creationId xmlns:a16="http://schemas.microsoft.com/office/drawing/2014/main" id="{8427BDC3-107C-1EDD-BC15-22943830DC07}"/>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755906" y="4091597"/>
              <a:ext cx="1344246" cy="1363784"/>
            </a:xfrm>
            <a:prstGeom prst="rect">
              <a:avLst/>
            </a:prstGeom>
          </p:spPr>
        </p:pic>
        <p:pic>
          <p:nvPicPr>
            <p:cNvPr id="31" name="Graphique 31" descr="Classe avec un remplissage uni">
              <a:extLst>
                <a:ext uri="{FF2B5EF4-FFF2-40B4-BE49-F238E27FC236}">
                  <a16:creationId xmlns:a16="http://schemas.microsoft.com/office/drawing/2014/main" id="{E72C6126-D6C2-DDF3-D427-47F1A457FB9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957396" y="2143857"/>
              <a:ext cx="1354014" cy="1314938"/>
            </a:xfrm>
            <a:prstGeom prst="rect">
              <a:avLst/>
            </a:prstGeom>
          </p:spPr>
        </p:pic>
      </p:grpSp>
      <p:grpSp>
        <p:nvGrpSpPr>
          <p:cNvPr id="44" name="Groupe 43">
            <a:extLst>
              <a:ext uri="{FF2B5EF4-FFF2-40B4-BE49-F238E27FC236}">
                <a16:creationId xmlns:a16="http://schemas.microsoft.com/office/drawing/2014/main" id="{E66FE7C9-48EC-ED04-612E-4ABB2FD49F3E}"/>
              </a:ext>
            </a:extLst>
          </p:cNvPr>
          <p:cNvGrpSpPr/>
          <p:nvPr/>
        </p:nvGrpSpPr>
        <p:grpSpPr>
          <a:xfrm>
            <a:off x="1950" y="3903"/>
            <a:ext cx="7618048" cy="6857999"/>
            <a:chOff x="607642" y="-113327"/>
            <a:chExt cx="7618048" cy="6857999"/>
          </a:xfrm>
        </p:grpSpPr>
        <p:grpSp>
          <p:nvGrpSpPr>
            <p:cNvPr id="34" name="Groupe 33">
              <a:extLst>
                <a:ext uri="{FF2B5EF4-FFF2-40B4-BE49-F238E27FC236}">
                  <a16:creationId xmlns:a16="http://schemas.microsoft.com/office/drawing/2014/main" id="{207B6F44-EC73-D7D5-36F6-AB3BC3BB7FC0}"/>
                </a:ext>
              </a:extLst>
            </p:cNvPr>
            <p:cNvGrpSpPr/>
            <p:nvPr/>
          </p:nvGrpSpPr>
          <p:grpSpPr>
            <a:xfrm>
              <a:off x="607642" y="-113327"/>
              <a:ext cx="7618048" cy="6857999"/>
              <a:chOff x="-7819" y="-35173"/>
              <a:chExt cx="7618048" cy="6857999"/>
            </a:xfrm>
          </p:grpSpPr>
          <p:grpSp>
            <p:nvGrpSpPr>
              <p:cNvPr id="69" name="Groupe 68">
                <a:extLst>
                  <a:ext uri="{FF2B5EF4-FFF2-40B4-BE49-F238E27FC236}">
                    <a16:creationId xmlns:a16="http://schemas.microsoft.com/office/drawing/2014/main" id="{99084118-6323-A585-54C7-2D7E387842AE}"/>
                  </a:ext>
                </a:extLst>
              </p:cNvPr>
              <p:cNvGrpSpPr/>
              <p:nvPr/>
            </p:nvGrpSpPr>
            <p:grpSpPr>
              <a:xfrm>
                <a:off x="6522635" y="4193928"/>
                <a:ext cx="1087594" cy="947615"/>
                <a:chOff x="9062637" y="5297852"/>
                <a:chExt cx="1087594" cy="947615"/>
              </a:xfrm>
            </p:grpSpPr>
            <p:sp>
              <p:nvSpPr>
                <p:cNvPr id="70" name="Rectangle : coins arrondis 69">
                  <a:extLst>
                    <a:ext uri="{FF2B5EF4-FFF2-40B4-BE49-F238E27FC236}">
                      <a16:creationId xmlns:a16="http://schemas.microsoft.com/office/drawing/2014/main" id="{1EB88E57-91CF-7D95-DDB3-44C9BCBC5390}"/>
                    </a:ext>
                  </a:extLst>
                </p:cNvPr>
                <p:cNvSpPr/>
                <p:nvPr/>
              </p:nvSpPr>
              <p:spPr>
                <a:xfrm rot="5400000">
                  <a:off x="8968014" y="5392475"/>
                  <a:ext cx="947615" cy="758369"/>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ZoneTexte 70">
                  <a:extLst>
                    <a:ext uri="{FF2B5EF4-FFF2-40B4-BE49-F238E27FC236}">
                      <a16:creationId xmlns:a16="http://schemas.microsoft.com/office/drawing/2014/main" id="{AF87C5C5-84F9-8934-CA5D-BCB413264D1F}"/>
                    </a:ext>
                  </a:extLst>
                </p:cNvPr>
                <p:cNvSpPr txBox="1"/>
                <p:nvPr/>
              </p:nvSpPr>
              <p:spPr>
                <a:xfrm flipH="1">
                  <a:off x="9120555" y="5414107"/>
                  <a:ext cx="1029676"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4500" dirty="0">
                      <a:solidFill>
                        <a:schemeClr val="bg1"/>
                      </a:solidFill>
                      <a:latin typeface="Georgia Pro Cond Black"/>
                      <a:cs typeface="Calibri"/>
                    </a:rPr>
                    <a:t>5</a:t>
                  </a:r>
                </a:p>
              </p:txBody>
            </p:sp>
          </p:grpSp>
          <p:sp>
            <p:nvSpPr>
              <p:cNvPr id="68" name="Rectangle 67">
                <a:extLst>
                  <a:ext uri="{FF2B5EF4-FFF2-40B4-BE49-F238E27FC236}">
                    <a16:creationId xmlns:a16="http://schemas.microsoft.com/office/drawing/2014/main" id="{63912A85-2BC1-96B8-C13F-4380FD31C079}"/>
                  </a:ext>
                </a:extLst>
              </p:cNvPr>
              <p:cNvSpPr/>
              <p:nvPr/>
            </p:nvSpPr>
            <p:spPr>
              <a:xfrm>
                <a:off x="-7819" y="-35173"/>
                <a:ext cx="6570625" cy="685799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0" name="ZoneTexte 39">
              <a:extLst>
                <a:ext uri="{FF2B5EF4-FFF2-40B4-BE49-F238E27FC236}">
                  <a16:creationId xmlns:a16="http://schemas.microsoft.com/office/drawing/2014/main" id="{5B6D34F5-F6FA-2241-B14A-7C6A4B8B3EF8}"/>
                </a:ext>
              </a:extLst>
            </p:cNvPr>
            <p:cNvSpPr txBox="1"/>
            <p:nvPr/>
          </p:nvSpPr>
          <p:spPr>
            <a:xfrm>
              <a:off x="1402861" y="201246"/>
              <a:ext cx="451143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1" noProof="1">
                  <a:solidFill>
                    <a:schemeClr val="tx1">
                      <a:lumMod val="95000"/>
                      <a:lumOff val="5000"/>
                    </a:schemeClr>
                  </a:solidFill>
                  <a:latin typeface="Times New Roman"/>
                </a:rPr>
                <a:t>Conseils pour ameliorer le bien être au travail</a:t>
              </a:r>
              <a:endParaRPr lang="fr-FR" sz="3200" noProof="1">
                <a:solidFill>
                  <a:schemeClr val="tx1">
                    <a:lumMod val="95000"/>
                    <a:lumOff val="5000"/>
                  </a:schemeClr>
                </a:solidFill>
                <a:cs typeface="Calibri"/>
              </a:endParaRPr>
            </a:p>
          </p:txBody>
        </p:sp>
        <p:pic>
          <p:nvPicPr>
            <p:cNvPr id="41" name="Graphique 41" descr="Flux de travail avec un remplissage uni">
              <a:extLst>
                <a:ext uri="{FF2B5EF4-FFF2-40B4-BE49-F238E27FC236}">
                  <a16:creationId xmlns:a16="http://schemas.microsoft.com/office/drawing/2014/main" id="{1B69E768-35A2-5620-91E4-E1DDC6BE9D3A}"/>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577492" y="3391878"/>
              <a:ext cx="1500553" cy="1500553"/>
            </a:xfrm>
            <a:prstGeom prst="rect">
              <a:avLst/>
            </a:prstGeom>
          </p:spPr>
        </p:pic>
        <p:pic>
          <p:nvPicPr>
            <p:cNvPr id="42" name="Graphique 42" descr="Terminé avec un remplissage uni">
              <a:extLst>
                <a:ext uri="{FF2B5EF4-FFF2-40B4-BE49-F238E27FC236}">
                  <a16:creationId xmlns:a16="http://schemas.microsoft.com/office/drawing/2014/main" id="{BADBD2D2-4FD1-1518-B532-B62F67A7315B}"/>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437059" y="1424598"/>
              <a:ext cx="1793630" cy="1793630"/>
            </a:xfrm>
            <a:prstGeom prst="rect">
              <a:avLst/>
            </a:prstGeom>
          </p:spPr>
        </p:pic>
        <p:pic>
          <p:nvPicPr>
            <p:cNvPr id="43" name="Graphique 43" descr="Brainstorming de groupe contour">
              <a:extLst>
                <a:ext uri="{FF2B5EF4-FFF2-40B4-BE49-F238E27FC236}">
                  <a16:creationId xmlns:a16="http://schemas.microsoft.com/office/drawing/2014/main" id="{5BB7271A-219D-DACF-4D9C-68C5FD267CF2}"/>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77241" y="2544395"/>
              <a:ext cx="1695938" cy="1695938"/>
            </a:xfrm>
            <a:prstGeom prst="rect">
              <a:avLst/>
            </a:prstGeom>
          </p:spPr>
        </p:pic>
      </p:grpSp>
      <p:grpSp>
        <p:nvGrpSpPr>
          <p:cNvPr id="53" name="Groupe 52">
            <a:extLst>
              <a:ext uri="{FF2B5EF4-FFF2-40B4-BE49-F238E27FC236}">
                <a16:creationId xmlns:a16="http://schemas.microsoft.com/office/drawing/2014/main" id="{C7E9B22A-A98A-B848-AE53-B06EE585C195}"/>
              </a:ext>
            </a:extLst>
          </p:cNvPr>
          <p:cNvGrpSpPr/>
          <p:nvPr/>
        </p:nvGrpSpPr>
        <p:grpSpPr>
          <a:xfrm>
            <a:off x="-46898" y="13673"/>
            <a:ext cx="6279665" cy="6848230"/>
            <a:chOff x="-7820" y="3904"/>
            <a:chExt cx="6279665" cy="6848230"/>
          </a:xfrm>
        </p:grpSpPr>
        <p:grpSp>
          <p:nvGrpSpPr>
            <p:cNvPr id="72" name="Groupe 71">
              <a:extLst>
                <a:ext uri="{FF2B5EF4-FFF2-40B4-BE49-F238E27FC236}">
                  <a16:creationId xmlns:a16="http://schemas.microsoft.com/office/drawing/2014/main" id="{95DCC48F-5615-DC60-D361-BC1FEC3B9B54}"/>
                </a:ext>
              </a:extLst>
            </p:cNvPr>
            <p:cNvGrpSpPr/>
            <p:nvPr/>
          </p:nvGrpSpPr>
          <p:grpSpPr>
            <a:xfrm>
              <a:off x="-7820" y="3904"/>
              <a:ext cx="6279665" cy="6848230"/>
              <a:chOff x="621026" y="-407006"/>
              <a:chExt cx="8999363" cy="6742578"/>
            </a:xfrm>
          </p:grpSpPr>
          <p:grpSp>
            <p:nvGrpSpPr>
              <p:cNvPr id="74" name="Groupe 73">
                <a:extLst>
                  <a:ext uri="{FF2B5EF4-FFF2-40B4-BE49-F238E27FC236}">
                    <a16:creationId xmlns:a16="http://schemas.microsoft.com/office/drawing/2014/main" id="{925D767E-1B3E-920E-7DBE-619ACCB14463}"/>
                  </a:ext>
                </a:extLst>
              </p:cNvPr>
              <p:cNvGrpSpPr/>
              <p:nvPr/>
            </p:nvGrpSpPr>
            <p:grpSpPr>
              <a:xfrm>
                <a:off x="8538642" y="4188297"/>
                <a:ext cx="1081747" cy="986089"/>
                <a:chOff x="10375257" y="5995605"/>
                <a:chExt cx="1081747" cy="986089"/>
              </a:xfrm>
            </p:grpSpPr>
            <p:sp>
              <p:nvSpPr>
                <p:cNvPr id="75" name="Rectangle : coins arrondis 74">
                  <a:extLst>
                    <a:ext uri="{FF2B5EF4-FFF2-40B4-BE49-F238E27FC236}">
                      <a16:creationId xmlns:a16="http://schemas.microsoft.com/office/drawing/2014/main" id="{48E4C480-5A4E-4B53-7CD8-323F949EF5A3}"/>
                    </a:ext>
                  </a:extLst>
                </p:cNvPr>
                <p:cNvSpPr/>
                <p:nvPr/>
              </p:nvSpPr>
              <p:spPr>
                <a:xfrm rot="5400000">
                  <a:off x="10387399" y="5983463"/>
                  <a:ext cx="986089" cy="1010373"/>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ZoneTexte 75">
                  <a:extLst>
                    <a:ext uri="{FF2B5EF4-FFF2-40B4-BE49-F238E27FC236}">
                      <a16:creationId xmlns:a16="http://schemas.microsoft.com/office/drawing/2014/main" id="{712A457A-2105-50B3-8515-461163EFBD2F}"/>
                    </a:ext>
                  </a:extLst>
                </p:cNvPr>
                <p:cNvSpPr txBox="1"/>
                <p:nvPr/>
              </p:nvSpPr>
              <p:spPr>
                <a:xfrm flipH="1">
                  <a:off x="10427327" y="6188206"/>
                  <a:ext cx="1029677"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4500" dirty="0">
                      <a:solidFill>
                        <a:schemeClr val="bg1"/>
                      </a:solidFill>
                      <a:latin typeface="Georgia Pro Cond Black"/>
                      <a:cs typeface="Calibri"/>
                    </a:rPr>
                    <a:t>6</a:t>
                  </a:r>
                </a:p>
              </p:txBody>
            </p:sp>
          </p:grpSp>
          <p:sp>
            <p:nvSpPr>
              <p:cNvPr id="73" name="Rectangle 72">
                <a:extLst>
                  <a:ext uri="{FF2B5EF4-FFF2-40B4-BE49-F238E27FC236}">
                    <a16:creationId xmlns:a16="http://schemas.microsoft.com/office/drawing/2014/main" id="{8ADF8F72-4FD0-721B-BBFF-31620A9A186F}"/>
                  </a:ext>
                </a:extLst>
              </p:cNvPr>
              <p:cNvSpPr/>
              <p:nvPr/>
            </p:nvSpPr>
            <p:spPr>
              <a:xfrm>
                <a:off x="621026" y="-407006"/>
                <a:ext cx="7967244" cy="67425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2" name="Groupe 51">
              <a:extLst>
                <a:ext uri="{FF2B5EF4-FFF2-40B4-BE49-F238E27FC236}">
                  <a16:creationId xmlns:a16="http://schemas.microsoft.com/office/drawing/2014/main" id="{F013718F-8CF4-4ABC-DA70-A72BEE151465}"/>
                </a:ext>
              </a:extLst>
            </p:cNvPr>
            <p:cNvGrpSpPr/>
            <p:nvPr/>
          </p:nvGrpSpPr>
          <p:grpSpPr>
            <a:xfrm>
              <a:off x="756627" y="1104899"/>
              <a:ext cx="3556976" cy="4648200"/>
              <a:chOff x="522165" y="1046284"/>
              <a:chExt cx="3556976" cy="4648200"/>
            </a:xfrm>
          </p:grpSpPr>
          <p:pic>
            <p:nvPicPr>
              <p:cNvPr id="51" name="Graphique 51" descr="Femme portant un panneau">
                <a:extLst>
                  <a:ext uri="{FF2B5EF4-FFF2-40B4-BE49-F238E27FC236}">
                    <a16:creationId xmlns:a16="http://schemas.microsoft.com/office/drawing/2014/main" id="{1C849CF3-A718-655E-8D71-0B82675BBDC7}"/>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22165" y="1046284"/>
                <a:ext cx="3556976" cy="4648200"/>
              </a:xfrm>
              <a:prstGeom prst="rect">
                <a:avLst/>
              </a:prstGeom>
            </p:spPr>
          </p:pic>
          <p:sp>
            <p:nvSpPr>
              <p:cNvPr id="50" name="ZoneTexte 49">
                <a:extLst>
                  <a:ext uri="{FF2B5EF4-FFF2-40B4-BE49-F238E27FC236}">
                    <a16:creationId xmlns:a16="http://schemas.microsoft.com/office/drawing/2014/main" id="{62A9C8CA-6D17-9F4D-A3EB-B5D796F3D105}"/>
                  </a:ext>
                </a:extLst>
              </p:cNvPr>
              <p:cNvSpPr txBox="1"/>
              <p:nvPr/>
            </p:nvSpPr>
            <p:spPr>
              <a:xfrm>
                <a:off x="572478" y="2340707"/>
                <a:ext cx="329027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i="1" dirty="0">
                    <a:solidFill>
                      <a:schemeClr val="tx1">
                        <a:lumMod val="95000"/>
                        <a:lumOff val="5000"/>
                      </a:schemeClr>
                    </a:solidFill>
                    <a:latin typeface="Times New Roman"/>
                  </a:rPr>
                  <a:t>Conclusion</a:t>
                </a:r>
                <a:endParaRPr lang="fr-FR" sz="4800" dirty="0">
                  <a:solidFill>
                    <a:schemeClr val="tx1">
                      <a:lumMod val="95000"/>
                      <a:lumOff val="5000"/>
                    </a:schemeClr>
                  </a:solidFill>
                </a:endParaRPr>
              </a:p>
            </p:txBody>
          </p:sp>
        </p:grpSp>
      </p:grpSp>
    </p:spTree>
    <p:extLst>
      <p:ext uri="{BB962C8B-B14F-4D97-AF65-F5344CB8AC3E}">
        <p14:creationId xmlns:p14="http://schemas.microsoft.com/office/powerpoint/2010/main" val="398441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fade">
                                      <p:cBhvr>
                                        <p:cTn id="3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928CE7A0-4F39-44C8-AD2C-42A51638B194}"/>
              </a:ext>
            </a:extLst>
          </p:cNvPr>
          <p:cNvGrpSpPr/>
          <p:nvPr/>
        </p:nvGrpSpPr>
        <p:grpSpPr>
          <a:xfrm>
            <a:off x="6215187" y="857739"/>
            <a:ext cx="5978765" cy="5050690"/>
            <a:chOff x="6166340" y="906585"/>
            <a:chExt cx="5978766" cy="5050690"/>
          </a:xfrm>
        </p:grpSpPr>
        <p:sp>
          <p:nvSpPr>
            <p:cNvPr id="3" name="Rectangle 2">
              <a:extLst>
                <a:ext uri="{FF2B5EF4-FFF2-40B4-BE49-F238E27FC236}">
                  <a16:creationId xmlns:a16="http://schemas.microsoft.com/office/drawing/2014/main" id="{D8A6F14B-C04B-997B-79AE-DBF17FBDE707}"/>
                </a:ext>
              </a:extLst>
            </p:cNvPr>
            <p:cNvSpPr/>
            <p:nvPr/>
          </p:nvSpPr>
          <p:spPr>
            <a:xfrm>
              <a:off x="7043616" y="1494691"/>
              <a:ext cx="4435231" cy="3829539"/>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Losange 6">
              <a:extLst>
                <a:ext uri="{FF2B5EF4-FFF2-40B4-BE49-F238E27FC236}">
                  <a16:creationId xmlns:a16="http://schemas.microsoft.com/office/drawing/2014/main" id="{C2B53191-F49B-442E-893A-A8C48A3B311A}"/>
                </a:ext>
              </a:extLst>
            </p:cNvPr>
            <p:cNvSpPr/>
            <p:nvPr/>
          </p:nvSpPr>
          <p:spPr>
            <a:xfrm>
              <a:off x="6166340" y="906585"/>
              <a:ext cx="5978766" cy="5050690"/>
            </a:xfrm>
            <a:prstGeom prst="diamond">
              <a:avLst/>
            </a:prstGeom>
            <a:solidFill>
              <a:schemeClr val="tx1">
                <a:lumMod val="95000"/>
                <a:lumOff val="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000" b="1" i="1" dirty="0">
                  <a:solidFill>
                    <a:schemeClr val="accent4"/>
                  </a:solidFill>
                  <a:latin typeface="Sitka Heading"/>
                  <a:cs typeface="Calibri"/>
                </a:rPr>
                <a:t>INTRODUCTION</a:t>
              </a:r>
              <a:endParaRPr lang="fr-FR" sz="3000" b="1" i="1" dirty="0">
                <a:solidFill>
                  <a:schemeClr val="accent4"/>
                </a:solidFill>
                <a:latin typeface="Sitka Heading"/>
              </a:endParaRPr>
            </a:p>
          </p:txBody>
        </p:sp>
      </p:grpSp>
      <p:sp>
        <p:nvSpPr>
          <p:cNvPr id="2" name="ZoneTexte 1">
            <a:extLst>
              <a:ext uri="{FF2B5EF4-FFF2-40B4-BE49-F238E27FC236}">
                <a16:creationId xmlns:a16="http://schemas.microsoft.com/office/drawing/2014/main" id="{EE56E9BA-4F5A-B833-8F40-DAF580011CF0}"/>
              </a:ext>
            </a:extLst>
          </p:cNvPr>
          <p:cNvSpPr txBox="1"/>
          <p:nvPr/>
        </p:nvSpPr>
        <p:spPr>
          <a:xfrm>
            <a:off x="879230" y="1293446"/>
            <a:ext cx="4935415"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2400" i="1" dirty="0">
                <a:latin typeface="Verdana Pro Cond"/>
              </a:rPr>
              <a:t>Le bien-être des employés est un élément essentiel d'un environnement de travail et d'une organisation sains. Les entreprises qui favorisent le bien-être facilitent la gestion du niveau de stress des employés tout en maintenant un environnement positif et productif. Le bien-être peut faire référence à la santé mentale et physique, ainsi qu'à des éléments plus complexes comme les niveaux de satisfaction et d'engagement.</a:t>
            </a:r>
          </a:p>
        </p:txBody>
      </p:sp>
      <p:sp>
        <p:nvSpPr>
          <p:cNvPr id="5" name="Rectangle 4">
            <a:extLst>
              <a:ext uri="{FF2B5EF4-FFF2-40B4-BE49-F238E27FC236}">
                <a16:creationId xmlns:a16="http://schemas.microsoft.com/office/drawing/2014/main" id="{14944EDF-7E92-87CB-5169-F2005250156C}"/>
              </a:ext>
            </a:extLst>
          </p:cNvPr>
          <p:cNvSpPr/>
          <p:nvPr/>
        </p:nvSpPr>
        <p:spPr>
          <a:xfrm>
            <a:off x="457199" y="140677"/>
            <a:ext cx="644769" cy="810846"/>
          </a:xfrm>
          <a:prstGeom prst="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8A72027A-7134-D432-A308-597D56933646}"/>
              </a:ext>
            </a:extLst>
          </p:cNvPr>
          <p:cNvSpPr/>
          <p:nvPr/>
        </p:nvSpPr>
        <p:spPr>
          <a:xfrm>
            <a:off x="164123" y="199291"/>
            <a:ext cx="635000" cy="644769"/>
          </a:xfrm>
          <a:prstGeom prst="rect">
            <a:avLst/>
          </a:prstGeom>
          <a:solidFill>
            <a:srgbClr val="ED7D3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4676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FC54EFB-5EDA-0043-2043-97B2D42A6344}"/>
              </a:ext>
            </a:extLst>
          </p:cNvPr>
          <p:cNvSpPr txBox="1"/>
          <p:nvPr/>
        </p:nvSpPr>
        <p:spPr>
          <a:xfrm>
            <a:off x="4916251" y="662400"/>
            <a:ext cx="3738533" cy="65500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a:lnSpc>
                <a:spcPct val="90000"/>
              </a:lnSpc>
              <a:spcBef>
                <a:spcPct val="0"/>
              </a:spcBef>
              <a:spcAft>
                <a:spcPts val="600"/>
              </a:spcAft>
            </a:pPr>
            <a:r>
              <a:rPr lang="en-US" sz="4400" b="1" i="1" u="sng" noProof="1">
                <a:latin typeface="+mj-lt"/>
                <a:ea typeface="+mj-ea"/>
                <a:cs typeface="+mj-cs"/>
              </a:rPr>
              <a:t>Définition</a:t>
            </a:r>
            <a:r>
              <a:rPr lang="en-US" sz="4400" b="1" i="1" u="sng" dirty="0">
                <a:latin typeface="+mj-lt"/>
                <a:ea typeface="+mj-ea"/>
                <a:cs typeface="+mj-cs"/>
              </a:rPr>
              <a:t>:</a:t>
            </a:r>
          </a:p>
        </p:txBody>
      </p:sp>
      <p:pic>
        <p:nvPicPr>
          <p:cNvPr id="4" name="Image 4" descr="Une image contenant texte, enveloppe, carte de visite&#10;&#10;Description générée automatiquement">
            <a:extLst>
              <a:ext uri="{FF2B5EF4-FFF2-40B4-BE49-F238E27FC236}">
                <a16:creationId xmlns:a16="http://schemas.microsoft.com/office/drawing/2014/main" id="{E499A7CB-B6F1-2DD2-3B15-552437CCF495}"/>
              </a:ext>
            </a:extLst>
          </p:cNvPr>
          <p:cNvPicPr>
            <a:picLocks noChangeAspect="1"/>
          </p:cNvPicPr>
          <p:nvPr/>
        </p:nvPicPr>
        <p:blipFill rotWithShape="1">
          <a:blip r:embed="rId2"/>
          <a:srcRect t="1818" r="2" b="2"/>
          <a:stretch/>
        </p:blipFill>
        <p:spPr>
          <a:xfrm>
            <a:off x="688434" y="-9525"/>
            <a:ext cx="3584766" cy="6867525"/>
          </a:xfrm>
          <a:prstGeom prst="rect">
            <a:avLst/>
          </a:prstGeom>
        </p:spPr>
      </p:pic>
      <p:sp>
        <p:nvSpPr>
          <p:cNvPr id="3" name="ZoneTexte 2">
            <a:extLst>
              <a:ext uri="{FF2B5EF4-FFF2-40B4-BE49-F238E27FC236}">
                <a16:creationId xmlns:a16="http://schemas.microsoft.com/office/drawing/2014/main" id="{F2123F10-16BF-CC2C-9A80-04B3D0F6A149}"/>
              </a:ext>
            </a:extLst>
          </p:cNvPr>
          <p:cNvSpPr txBox="1"/>
          <p:nvPr/>
        </p:nvSpPr>
        <p:spPr>
          <a:xfrm>
            <a:off x="4916251" y="2039155"/>
            <a:ext cx="6614814" cy="409164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2800" noProof="1">
                <a:latin typeface="Verdana Pro Cond"/>
              </a:rPr>
              <a:t>Le bien-etre au travail  renvoie à l'ensemble des facteurs la </a:t>
            </a:r>
            <a:r>
              <a:rPr lang="en-US" sz="2800" noProof="1">
                <a:latin typeface="Verdana Pro Cond"/>
                <a:hlinkClick r:id="rId3">
                  <a:extLst>
                    <a:ext uri="{A12FA001-AC4F-418D-AE19-62706E023703}">
                      <ahyp:hlinkClr xmlns:ahyp="http://schemas.microsoft.com/office/drawing/2018/hyperlinkcolor" val="tx"/>
                    </a:ext>
                  </a:extLst>
                </a:hlinkClick>
              </a:rPr>
              <a:t>santé</a:t>
            </a:r>
            <a:r>
              <a:rPr lang="en-US" sz="2800" noProof="1">
                <a:latin typeface="Verdana Pro Cond"/>
              </a:rPr>
              <a:t>, la réussite sociale ou économique, le </a:t>
            </a:r>
            <a:r>
              <a:rPr lang="en-US" sz="2800" noProof="1">
                <a:latin typeface="Verdana Pro Cond"/>
                <a:hlinkClick r:id="rId4">
                  <a:extLst>
                    <a:ext uri="{A12FA001-AC4F-418D-AE19-62706E023703}">
                      <ahyp:hlinkClr xmlns:ahyp="http://schemas.microsoft.com/office/drawing/2018/hyperlinkcolor" val="tx"/>
                    </a:ext>
                  </a:extLst>
                </a:hlinkClick>
              </a:rPr>
              <a:t>plaisir</a:t>
            </a:r>
            <a:r>
              <a:rPr lang="en-US" sz="2800" noProof="1">
                <a:latin typeface="Verdana Pro Cond"/>
              </a:rPr>
              <a:t>, la réalisation de soi, l'harmonie avec soi-même et avec les autres, , plus ou moins identifiables, susceptibles d'influer sur le ressenti des employés par rapport à leur lieu et conditions de travail. Cette notion se veut de portée plus large que les notions de santé physique et mentale.</a:t>
            </a:r>
          </a:p>
          <a:p>
            <a:pPr indent="-228600">
              <a:lnSpc>
                <a:spcPct val="90000"/>
              </a:lnSpc>
              <a:spcAft>
                <a:spcPts val="600"/>
              </a:spcAft>
              <a:buFont typeface="Arial" panose="020B0604020202020204" pitchFamily="34" charset="0"/>
              <a:buChar char="•"/>
            </a:pPr>
            <a:endParaRPr lang="en-US" sz="2000" dirty="0">
              <a:solidFill>
                <a:schemeClr val="tx1">
                  <a:alpha val="60000"/>
                </a:schemeClr>
              </a:solidFill>
              <a:cs typeface="Calibri"/>
            </a:endParaRPr>
          </a:p>
          <a:p>
            <a:pPr indent="-228600">
              <a:lnSpc>
                <a:spcPct val="90000"/>
              </a:lnSpc>
              <a:spcAft>
                <a:spcPts val="600"/>
              </a:spcAft>
              <a:buFont typeface="Arial" panose="020B0604020202020204" pitchFamily="34" charset="0"/>
              <a:buChar char="•"/>
            </a:pPr>
            <a:endParaRPr lang="en-US" sz="2000" dirty="0">
              <a:solidFill>
                <a:srgbClr val="000000">
                  <a:alpha val="60000"/>
                </a:srgbClr>
              </a:solidFill>
              <a:cs typeface="Calibri" panose="020F0502020204030204"/>
            </a:endParaRPr>
          </a:p>
          <a:p>
            <a:pPr indent="-228600">
              <a:lnSpc>
                <a:spcPct val="90000"/>
              </a:lnSpc>
              <a:spcAft>
                <a:spcPts val="600"/>
              </a:spcAft>
              <a:buFont typeface="Arial" panose="020B0604020202020204" pitchFamily="34" charset="0"/>
              <a:buChar char="•"/>
            </a:pPr>
            <a:endParaRPr lang="en-US" sz="2000">
              <a:solidFill>
                <a:srgbClr val="000000">
                  <a:alpha val="60000"/>
                </a:srgbClr>
              </a:solidFill>
              <a:cs typeface="Calibri" panose="020F0502020204030204"/>
            </a:endParaRPr>
          </a:p>
        </p:txBody>
      </p:sp>
      <p:cxnSp>
        <p:nvCxnSpPr>
          <p:cNvPr id="5" name="Connecteur droit avec flèche 4">
            <a:extLst>
              <a:ext uri="{FF2B5EF4-FFF2-40B4-BE49-F238E27FC236}">
                <a16:creationId xmlns:a16="http://schemas.microsoft.com/office/drawing/2014/main" id="{939103B1-7503-3E17-4A2C-B111607677BF}"/>
              </a:ext>
            </a:extLst>
          </p:cNvPr>
          <p:cNvCxnSpPr/>
          <p:nvPr/>
        </p:nvCxnSpPr>
        <p:spPr>
          <a:xfrm flipV="1">
            <a:off x="4994856" y="1578736"/>
            <a:ext cx="6044484" cy="8585"/>
          </a:xfrm>
          <a:prstGeom prst="straightConnector1">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404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 7" descr="Une image contenant texte&#10;&#10;Description générée automatiquement">
            <a:extLst>
              <a:ext uri="{FF2B5EF4-FFF2-40B4-BE49-F238E27FC236}">
                <a16:creationId xmlns:a16="http://schemas.microsoft.com/office/drawing/2014/main" id="{B3CE9012-818B-D9E4-55E1-A0E0CCBAA46B}"/>
              </a:ext>
            </a:extLst>
          </p:cNvPr>
          <p:cNvPicPr>
            <a:picLocks noChangeAspect="1"/>
          </p:cNvPicPr>
          <p:nvPr/>
        </p:nvPicPr>
        <p:blipFill rotWithShape="1">
          <a:blip r:embed="rId2"/>
          <a:srcRect r="2" b="1792"/>
          <a:stretch/>
        </p:blipFill>
        <p:spPr>
          <a:xfrm>
            <a:off x="7601026" y="557189"/>
            <a:ext cx="4269242" cy="5743618"/>
          </a:xfrm>
          <a:prstGeom prst="rect">
            <a:avLst/>
          </a:prstGeom>
        </p:spPr>
      </p:pic>
      <p:sp>
        <p:nvSpPr>
          <p:cNvPr id="9" name="ZoneTexte 8">
            <a:extLst>
              <a:ext uri="{FF2B5EF4-FFF2-40B4-BE49-F238E27FC236}">
                <a16:creationId xmlns:a16="http://schemas.microsoft.com/office/drawing/2014/main" id="{D79385DA-0C39-4538-826A-D048549FEF91}"/>
              </a:ext>
            </a:extLst>
          </p:cNvPr>
          <p:cNvSpPr txBox="1"/>
          <p:nvPr/>
        </p:nvSpPr>
        <p:spPr>
          <a:xfrm>
            <a:off x="968062" y="431442"/>
            <a:ext cx="519018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1" u="sng" err="1">
                <a:latin typeface="Calibri Light"/>
                <a:cs typeface="Calibri Light"/>
              </a:rPr>
              <a:t>Qualite</a:t>
            </a:r>
            <a:r>
              <a:rPr lang="en-US" sz="2800" b="1" i="1" u="sng" dirty="0">
                <a:latin typeface="Calibri Light"/>
                <a:cs typeface="Calibri Light"/>
              </a:rPr>
              <a:t> de vie au travail:</a:t>
            </a:r>
          </a:p>
        </p:txBody>
      </p:sp>
      <p:pic>
        <p:nvPicPr>
          <p:cNvPr id="2" name="Image 2" descr="Une image contenant texte, graphiques vectoriels, carte de visite, capture d’écran&#10;&#10;Description générée automatiquement">
            <a:extLst>
              <a:ext uri="{FF2B5EF4-FFF2-40B4-BE49-F238E27FC236}">
                <a16:creationId xmlns:a16="http://schemas.microsoft.com/office/drawing/2014/main" id="{293281D8-EB41-CCAF-CB07-E68762525700}"/>
              </a:ext>
            </a:extLst>
          </p:cNvPr>
          <p:cNvPicPr>
            <a:picLocks noChangeAspect="1"/>
          </p:cNvPicPr>
          <p:nvPr/>
        </p:nvPicPr>
        <p:blipFill>
          <a:blip r:embed="rId3"/>
          <a:stretch>
            <a:fillRect/>
          </a:stretch>
        </p:blipFill>
        <p:spPr>
          <a:xfrm>
            <a:off x="65165" y="1347246"/>
            <a:ext cx="7175677" cy="4780208"/>
          </a:xfrm>
          <a:prstGeom prst="rect">
            <a:avLst/>
          </a:prstGeom>
        </p:spPr>
      </p:pic>
    </p:spTree>
    <p:extLst>
      <p:ext uri="{BB962C8B-B14F-4D97-AF65-F5344CB8AC3E}">
        <p14:creationId xmlns:p14="http://schemas.microsoft.com/office/powerpoint/2010/main" val="2758495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Image 2">
            <a:extLst>
              <a:ext uri="{FF2B5EF4-FFF2-40B4-BE49-F238E27FC236}">
                <a16:creationId xmlns:a16="http://schemas.microsoft.com/office/drawing/2014/main" id="{696C2913-7A3E-3BD1-26BD-D35CDC65255E}"/>
              </a:ext>
            </a:extLst>
          </p:cNvPr>
          <p:cNvPicPr>
            <a:picLocks noChangeAspect="1"/>
          </p:cNvPicPr>
          <p:nvPr/>
        </p:nvPicPr>
        <p:blipFill rotWithShape="1">
          <a:blip r:embed="rId2"/>
          <a:srcRect r="-1" b="36458"/>
          <a:stretch/>
        </p:blipFill>
        <p:spPr>
          <a:xfrm>
            <a:off x="20" y="10"/>
            <a:ext cx="7743929" cy="6857990"/>
          </a:xfrm>
          <a:custGeom>
            <a:avLst/>
            <a:gdLst/>
            <a:ahLst/>
            <a:cxnLst/>
            <a:rect l="l" t="t" r="r" b="b"/>
            <a:pathLst>
              <a:path w="7743949" h="6858000">
                <a:moveTo>
                  <a:pt x="956085" y="2071857"/>
                </a:moveTo>
                <a:cubicBezTo>
                  <a:pt x="956085" y="2071857"/>
                  <a:pt x="956085" y="2071857"/>
                  <a:pt x="4999548" y="2071857"/>
                </a:cubicBezTo>
                <a:cubicBezTo>
                  <a:pt x="5252811" y="2071857"/>
                  <a:pt x="5497339" y="2211072"/>
                  <a:pt x="5619604" y="2437296"/>
                </a:cubicBezTo>
                <a:cubicBezTo>
                  <a:pt x="5619604" y="2437296"/>
                  <a:pt x="5619604" y="2437296"/>
                  <a:pt x="7645701" y="5926372"/>
                </a:cubicBezTo>
                <a:cubicBezTo>
                  <a:pt x="7776699" y="6143896"/>
                  <a:pt x="7776699" y="6422327"/>
                  <a:pt x="7645701" y="6639850"/>
                </a:cubicBezTo>
                <a:cubicBezTo>
                  <a:pt x="7645701" y="6639850"/>
                  <a:pt x="7645701" y="6639850"/>
                  <a:pt x="7538856" y="6823844"/>
                </a:cubicBezTo>
                <a:lnTo>
                  <a:pt x="7519022" y="6858000"/>
                </a:lnTo>
                <a:lnTo>
                  <a:pt x="0" y="6858000"/>
                </a:lnTo>
                <a:lnTo>
                  <a:pt x="0" y="3003362"/>
                </a:lnTo>
                <a:lnTo>
                  <a:pt x="144017" y="2754282"/>
                </a:lnTo>
                <a:cubicBezTo>
                  <a:pt x="203181" y="2651956"/>
                  <a:pt x="264254" y="2546330"/>
                  <a:pt x="327296" y="2437296"/>
                </a:cubicBezTo>
                <a:cubicBezTo>
                  <a:pt x="458294" y="2211072"/>
                  <a:pt x="694090" y="2071857"/>
                  <a:pt x="956085" y="2071857"/>
                </a:cubicBezTo>
                <a:close/>
                <a:moveTo>
                  <a:pt x="6281397" y="1163923"/>
                </a:moveTo>
                <a:cubicBezTo>
                  <a:pt x="6281397" y="1163923"/>
                  <a:pt x="6281397" y="1163923"/>
                  <a:pt x="7148441" y="1163923"/>
                </a:cubicBezTo>
                <a:cubicBezTo>
                  <a:pt x="7202749" y="1163923"/>
                  <a:pt x="7255183" y="1193775"/>
                  <a:pt x="7281401" y="1242285"/>
                </a:cubicBezTo>
                <a:cubicBezTo>
                  <a:pt x="7281401" y="1242285"/>
                  <a:pt x="7281401" y="1242285"/>
                  <a:pt x="7715859" y="1990451"/>
                </a:cubicBezTo>
                <a:cubicBezTo>
                  <a:pt x="7743949" y="2037095"/>
                  <a:pt x="7743949" y="2096799"/>
                  <a:pt x="7715859" y="2143443"/>
                </a:cubicBezTo>
                <a:cubicBezTo>
                  <a:pt x="7715859" y="2143443"/>
                  <a:pt x="7715859" y="2143443"/>
                  <a:pt x="7281401" y="2891610"/>
                </a:cubicBezTo>
                <a:cubicBezTo>
                  <a:pt x="7255183" y="2940119"/>
                  <a:pt x="7202749" y="2969971"/>
                  <a:pt x="7148441" y="2969971"/>
                </a:cubicBezTo>
                <a:cubicBezTo>
                  <a:pt x="7148441" y="2969971"/>
                  <a:pt x="7148441" y="2969971"/>
                  <a:pt x="6281397" y="2969971"/>
                </a:cubicBezTo>
                <a:cubicBezTo>
                  <a:pt x="6225217" y="2969971"/>
                  <a:pt x="6174655" y="2940119"/>
                  <a:pt x="6146565" y="2891610"/>
                </a:cubicBezTo>
                <a:cubicBezTo>
                  <a:pt x="6146565" y="2891610"/>
                  <a:pt x="6146565" y="2891610"/>
                  <a:pt x="5713979" y="2143443"/>
                </a:cubicBezTo>
                <a:cubicBezTo>
                  <a:pt x="5685889" y="2096799"/>
                  <a:pt x="5685889" y="2037095"/>
                  <a:pt x="5713979" y="1990451"/>
                </a:cubicBezTo>
                <a:cubicBezTo>
                  <a:pt x="5713979" y="1990451"/>
                  <a:pt x="5713979" y="1990451"/>
                  <a:pt x="6146565" y="1242285"/>
                </a:cubicBezTo>
                <a:cubicBezTo>
                  <a:pt x="6174655" y="1193775"/>
                  <a:pt x="6225217" y="1163923"/>
                  <a:pt x="6281397" y="1163923"/>
                </a:cubicBezTo>
                <a:close/>
                <a:moveTo>
                  <a:pt x="0" y="0"/>
                </a:moveTo>
                <a:lnTo>
                  <a:pt x="6600525" y="0"/>
                </a:lnTo>
                <a:lnTo>
                  <a:pt x="6486618" y="196155"/>
                </a:lnTo>
                <a:cubicBezTo>
                  <a:pt x="6261242" y="584267"/>
                  <a:pt x="5994130" y="1044253"/>
                  <a:pt x="5677553" y="1589421"/>
                </a:cubicBezTo>
                <a:cubicBezTo>
                  <a:pt x="5555288" y="1815646"/>
                  <a:pt x="5310759" y="1954861"/>
                  <a:pt x="5057496" y="1954861"/>
                </a:cubicBezTo>
                <a:cubicBezTo>
                  <a:pt x="5057496" y="1954861"/>
                  <a:pt x="5057496" y="1954861"/>
                  <a:pt x="1014033" y="1954861"/>
                </a:cubicBezTo>
                <a:cubicBezTo>
                  <a:pt x="752038" y="1954861"/>
                  <a:pt x="516243" y="1815646"/>
                  <a:pt x="385244" y="1589421"/>
                </a:cubicBezTo>
                <a:cubicBezTo>
                  <a:pt x="385244" y="1589421"/>
                  <a:pt x="385244" y="1589421"/>
                  <a:pt x="69234" y="1042874"/>
                </a:cubicBezTo>
                <a:lnTo>
                  <a:pt x="0" y="923133"/>
                </a:lnTo>
                <a:close/>
              </a:path>
            </a:pathLst>
          </a:custGeom>
        </p:spPr>
      </p:pic>
      <p:sp>
        <p:nvSpPr>
          <p:cNvPr id="3" name="ZoneTexte 2">
            <a:extLst>
              <a:ext uri="{FF2B5EF4-FFF2-40B4-BE49-F238E27FC236}">
                <a16:creationId xmlns:a16="http://schemas.microsoft.com/office/drawing/2014/main" id="{98DA86B1-2121-12E3-F793-05FE49CA8EF6}"/>
              </a:ext>
            </a:extLst>
          </p:cNvPr>
          <p:cNvSpPr txBox="1"/>
          <p:nvPr/>
        </p:nvSpPr>
        <p:spPr>
          <a:xfrm>
            <a:off x="7866564" y="1840970"/>
            <a:ext cx="3807147" cy="4266867"/>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5400" b="1" i="1" noProof="1">
                <a:solidFill>
                  <a:schemeClr val="bg1"/>
                </a:solidFill>
                <a:latin typeface="Times New Roman"/>
                <a:cs typeface="Times New Roman"/>
              </a:rPr>
              <a:t>Pourquoi le bien-être est-il important au travail ?</a:t>
            </a:r>
          </a:p>
          <a:p>
            <a:pPr indent="-228600">
              <a:lnSpc>
                <a:spcPct val="90000"/>
              </a:lnSpc>
              <a:spcAft>
                <a:spcPts val="600"/>
              </a:spcAft>
              <a:buFont typeface="Arial" panose="020B0604020202020204" pitchFamily="34" charset="0"/>
              <a:buChar char="•"/>
            </a:pPr>
            <a:endParaRPr lang="en-US" sz="2400" b="1" i="1" dirty="0">
              <a:solidFill>
                <a:schemeClr val="bg1"/>
              </a:solidFill>
              <a:latin typeface="Times New Roman"/>
              <a:cs typeface="Calibri"/>
            </a:endParaRPr>
          </a:p>
        </p:txBody>
      </p:sp>
    </p:spTree>
    <p:extLst>
      <p:ext uri="{BB962C8B-B14F-4D97-AF65-F5344CB8AC3E}">
        <p14:creationId xmlns:p14="http://schemas.microsoft.com/office/powerpoint/2010/main" val="3929547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5C5F93BC-594F-F0FF-9469-837E33708878}"/>
              </a:ext>
            </a:extLst>
          </p:cNvPr>
          <p:cNvSpPr/>
          <p:nvPr/>
        </p:nvSpPr>
        <p:spPr>
          <a:xfrm>
            <a:off x="2584635" y="696780"/>
            <a:ext cx="4110507" cy="2683098"/>
          </a:xfrm>
          <a:prstGeom prst="roundRect">
            <a:avLst/>
          </a:prstGeom>
          <a:noFill/>
          <a:ln>
            <a:solidFill>
              <a:srgbClr val="FFB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1">
            <a:extLst>
              <a:ext uri="{FF2B5EF4-FFF2-40B4-BE49-F238E27FC236}">
                <a16:creationId xmlns:a16="http://schemas.microsoft.com/office/drawing/2014/main" id="{AB675A32-AFD9-C5D9-207A-675F036264C7}"/>
              </a:ext>
            </a:extLst>
          </p:cNvPr>
          <p:cNvSpPr/>
          <p:nvPr/>
        </p:nvSpPr>
        <p:spPr>
          <a:xfrm>
            <a:off x="49368" y="3382850"/>
            <a:ext cx="5065688" cy="201768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3">
            <a:extLst>
              <a:ext uri="{FF2B5EF4-FFF2-40B4-BE49-F238E27FC236}">
                <a16:creationId xmlns:a16="http://schemas.microsoft.com/office/drawing/2014/main" id="{2CF33EB8-FAB4-FCFF-8398-191442DCC097}"/>
              </a:ext>
            </a:extLst>
          </p:cNvPr>
          <p:cNvPicPr>
            <a:picLocks noChangeAspect="1"/>
          </p:cNvPicPr>
          <p:nvPr/>
        </p:nvPicPr>
        <p:blipFill>
          <a:blip r:embed="rId2"/>
          <a:stretch>
            <a:fillRect/>
          </a:stretch>
        </p:blipFill>
        <p:spPr>
          <a:xfrm>
            <a:off x="989527" y="1263203"/>
            <a:ext cx="5018467" cy="2743200"/>
          </a:xfrm>
          <a:prstGeom prst="rect">
            <a:avLst/>
          </a:prstGeom>
        </p:spPr>
      </p:pic>
      <p:sp>
        <p:nvSpPr>
          <p:cNvPr id="8" name="ZoneTexte 7">
            <a:extLst>
              <a:ext uri="{FF2B5EF4-FFF2-40B4-BE49-F238E27FC236}">
                <a16:creationId xmlns:a16="http://schemas.microsoft.com/office/drawing/2014/main" id="{6715FE8B-8AFB-FCFC-A5AF-3AEF5DE7CDA9}"/>
              </a:ext>
            </a:extLst>
          </p:cNvPr>
          <p:cNvSpPr txBox="1"/>
          <p:nvPr/>
        </p:nvSpPr>
        <p:spPr>
          <a:xfrm>
            <a:off x="7080738" y="738553"/>
            <a:ext cx="4759569"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dirty="0">
                <a:latin typeface="Verdana Pro Cond"/>
              </a:rPr>
              <a:t>En fait, le bonheur des salariés a un impact direct sur leur motivation. Le bien-être en entreprise booste la productivité. Au plus un employé se sent bien dans sa peau, au plus il sera productif.</a:t>
            </a:r>
          </a:p>
          <a:p>
            <a:r>
              <a:rPr lang="fr-FR" sz="2000" dirty="0">
                <a:latin typeface="Verdana Pro Cond"/>
              </a:rPr>
              <a:t>De plus, les jeunes générations ne veulent plus se tuer au travail. L’équilibre vie professionnelle, vie privée n’est plus négociable. Pour attirer de jeunes travailleurs, la rémunération seule ne suffit plus.</a:t>
            </a:r>
          </a:p>
          <a:p>
            <a:r>
              <a:rPr lang="fr-FR" sz="2000" dirty="0">
                <a:latin typeface="Verdana Pro Cond"/>
              </a:rPr>
              <a:t>L’amélioration des conditions de travail aide aussi managers et directions à faire chuter le taux d’absentéisme et à lutter contre l’épuisement professionnel (burn-out) et la démission intérieure (</a:t>
            </a:r>
            <a:r>
              <a:rPr lang="fr-FR" sz="2000" err="1">
                <a:latin typeface="Verdana Pro Cond"/>
              </a:rPr>
              <a:t>brown</a:t>
            </a:r>
            <a:r>
              <a:rPr lang="fr-FR" sz="2000" dirty="0">
                <a:latin typeface="Verdana Pro Cond"/>
              </a:rPr>
              <a:t>-out).</a:t>
            </a:r>
          </a:p>
          <a:p>
            <a:pPr algn="l"/>
            <a:endParaRPr lang="fr-FR" sz="2000" dirty="0">
              <a:latin typeface="Verdana Pro Cond"/>
            </a:endParaRPr>
          </a:p>
        </p:txBody>
      </p:sp>
    </p:spTree>
    <p:extLst>
      <p:ext uri="{BB962C8B-B14F-4D97-AF65-F5344CB8AC3E}">
        <p14:creationId xmlns:p14="http://schemas.microsoft.com/office/powerpoint/2010/main" val="3019119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ZoneTexte 2">
            <a:extLst>
              <a:ext uri="{FF2B5EF4-FFF2-40B4-BE49-F238E27FC236}">
                <a16:creationId xmlns:a16="http://schemas.microsoft.com/office/drawing/2014/main" id="{910F83E3-4842-0094-CF37-04AA3C9313AB}"/>
              </a:ext>
            </a:extLst>
          </p:cNvPr>
          <p:cNvSpPr txBox="1"/>
          <p:nvPr/>
        </p:nvSpPr>
        <p:spPr>
          <a:xfrm>
            <a:off x="640080" y="2872899"/>
            <a:ext cx="4243589" cy="33206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5400" b="1" i="1" noProof="1">
                <a:solidFill>
                  <a:schemeClr val="bg1"/>
                </a:solidFill>
                <a:latin typeface="Times New Roman"/>
                <a:cs typeface="Times New Roman"/>
              </a:rPr>
              <a:t>Qui s'occupe du bien-être au travail ?</a:t>
            </a:r>
          </a:p>
        </p:txBody>
      </p:sp>
      <p:pic>
        <p:nvPicPr>
          <p:cNvPr id="2" name="Image 2">
            <a:extLst>
              <a:ext uri="{FF2B5EF4-FFF2-40B4-BE49-F238E27FC236}">
                <a16:creationId xmlns:a16="http://schemas.microsoft.com/office/drawing/2014/main" id="{6E77A906-55AB-D22C-3234-6E3761144B45}"/>
              </a:ext>
            </a:extLst>
          </p:cNvPr>
          <p:cNvPicPr>
            <a:picLocks noChangeAspect="1"/>
          </p:cNvPicPr>
          <p:nvPr/>
        </p:nvPicPr>
        <p:blipFill rotWithShape="1">
          <a:blip r:embed="rId2"/>
          <a:srcRect t="8974" r="2" b="1052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15001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F1C29390-8977-9F07-51CE-493EBCA9B16C}"/>
              </a:ext>
            </a:extLst>
          </p:cNvPr>
          <p:cNvGrpSpPr/>
          <p:nvPr/>
        </p:nvGrpSpPr>
        <p:grpSpPr>
          <a:xfrm>
            <a:off x="562707" y="550984"/>
            <a:ext cx="1025770" cy="4751754"/>
            <a:chOff x="562707" y="550984"/>
            <a:chExt cx="1025770" cy="4751754"/>
          </a:xfrm>
        </p:grpSpPr>
        <p:sp>
          <p:nvSpPr>
            <p:cNvPr id="2" name="Ellipse 1">
              <a:extLst>
                <a:ext uri="{FF2B5EF4-FFF2-40B4-BE49-F238E27FC236}">
                  <a16:creationId xmlns:a16="http://schemas.microsoft.com/office/drawing/2014/main" id="{29B55927-7E59-EDC5-2CE3-75BABFA91130}"/>
                </a:ext>
              </a:extLst>
            </p:cNvPr>
            <p:cNvSpPr/>
            <p:nvPr/>
          </p:nvSpPr>
          <p:spPr>
            <a:xfrm>
              <a:off x="562707" y="550984"/>
              <a:ext cx="1025770" cy="986692"/>
            </a:xfrm>
            <a:prstGeom prst="ellipse">
              <a:avLst/>
            </a:prstGeom>
            <a:solidFill>
              <a:srgbClr val="C9C9C9"/>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cs typeface="Calibri"/>
                </a:rPr>
                <a:t>1</a:t>
              </a:r>
            </a:p>
          </p:txBody>
        </p:sp>
        <p:cxnSp>
          <p:nvCxnSpPr>
            <p:cNvPr id="3" name="Connecteur droit avec flèche 2">
              <a:extLst>
                <a:ext uri="{FF2B5EF4-FFF2-40B4-BE49-F238E27FC236}">
                  <a16:creationId xmlns:a16="http://schemas.microsoft.com/office/drawing/2014/main" id="{34558660-4F1C-89E1-E08E-0D07C55798EC}"/>
                </a:ext>
              </a:extLst>
            </p:cNvPr>
            <p:cNvCxnSpPr/>
            <p:nvPr/>
          </p:nvCxnSpPr>
          <p:spPr>
            <a:xfrm>
              <a:off x="1057031" y="1438031"/>
              <a:ext cx="25400" cy="3552092"/>
            </a:xfrm>
            <a:prstGeom prst="straightConnector1">
              <a:avLst/>
            </a:prstGeom>
            <a:ln>
              <a:solidFill>
                <a:srgbClr val="C9C9C9"/>
              </a:solidFill>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855021DA-4393-596A-7C06-92016BE48F68}"/>
                </a:ext>
              </a:extLst>
            </p:cNvPr>
            <p:cNvSpPr/>
            <p:nvPr/>
          </p:nvSpPr>
          <p:spPr>
            <a:xfrm>
              <a:off x="916353" y="4990123"/>
              <a:ext cx="351693" cy="312615"/>
            </a:xfrm>
            <a:prstGeom prst="ellipse">
              <a:avLst/>
            </a:prstGeom>
            <a:solidFill>
              <a:srgbClr val="C9C9C9"/>
            </a:solidFill>
            <a:ln>
              <a:solidFill>
                <a:srgbClr val="C9C9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6" name="ZoneTexte 5">
            <a:extLst>
              <a:ext uri="{FF2B5EF4-FFF2-40B4-BE49-F238E27FC236}">
                <a16:creationId xmlns:a16="http://schemas.microsoft.com/office/drawing/2014/main" id="{98D44C1A-69B1-A237-A7EC-8068EF0905DD}"/>
              </a:ext>
            </a:extLst>
          </p:cNvPr>
          <p:cNvSpPr txBox="1"/>
          <p:nvPr/>
        </p:nvSpPr>
        <p:spPr>
          <a:xfrm>
            <a:off x="1588477" y="1500554"/>
            <a:ext cx="407181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b="1" u="sng" dirty="0">
                <a:solidFill>
                  <a:srgbClr val="27273D"/>
                </a:solidFill>
                <a:latin typeface="Work Sans"/>
              </a:rPr>
              <a:t>La direction </a:t>
            </a:r>
            <a:r>
              <a:rPr lang="en-US" sz="2400" b="1" u="sng" noProof="1">
                <a:solidFill>
                  <a:srgbClr val="27273D"/>
                </a:solidFill>
                <a:latin typeface="Work Sans"/>
              </a:rPr>
              <a:t>générale</a:t>
            </a:r>
            <a:r>
              <a:rPr lang="en-US" sz="2400" b="1" u="sng" dirty="0">
                <a:solidFill>
                  <a:srgbClr val="27273D"/>
                </a:solidFill>
                <a:latin typeface="Work Sans"/>
              </a:rPr>
              <a:t>:</a:t>
            </a:r>
          </a:p>
          <a:p>
            <a:pPr marL="285750" indent="-285750">
              <a:buFont typeface="Arial"/>
              <a:buChar char="•"/>
            </a:pPr>
            <a:endParaRPr lang="en-US" b="1" dirty="0">
              <a:solidFill>
                <a:srgbClr val="27273D"/>
              </a:solidFill>
              <a:latin typeface="Work Sans"/>
            </a:endParaRPr>
          </a:p>
        </p:txBody>
      </p:sp>
      <p:grpSp>
        <p:nvGrpSpPr>
          <p:cNvPr id="7" name="Groupe 6">
            <a:extLst>
              <a:ext uri="{FF2B5EF4-FFF2-40B4-BE49-F238E27FC236}">
                <a16:creationId xmlns:a16="http://schemas.microsoft.com/office/drawing/2014/main" id="{D68559B6-7457-6E56-301F-C2DE77FE24C1}"/>
              </a:ext>
            </a:extLst>
          </p:cNvPr>
          <p:cNvGrpSpPr/>
          <p:nvPr/>
        </p:nvGrpSpPr>
        <p:grpSpPr>
          <a:xfrm>
            <a:off x="5759938" y="550984"/>
            <a:ext cx="1025770" cy="4751754"/>
            <a:chOff x="562707" y="550984"/>
            <a:chExt cx="1025770" cy="4751754"/>
          </a:xfrm>
        </p:grpSpPr>
        <p:sp>
          <p:nvSpPr>
            <p:cNvPr id="8" name="Ellipse 7">
              <a:extLst>
                <a:ext uri="{FF2B5EF4-FFF2-40B4-BE49-F238E27FC236}">
                  <a16:creationId xmlns:a16="http://schemas.microsoft.com/office/drawing/2014/main" id="{373756E1-F727-79EF-C060-DCA3BE5F417A}"/>
                </a:ext>
              </a:extLst>
            </p:cNvPr>
            <p:cNvSpPr/>
            <p:nvPr/>
          </p:nvSpPr>
          <p:spPr>
            <a:xfrm>
              <a:off x="562707" y="550984"/>
              <a:ext cx="1025770" cy="986692"/>
            </a:xfrm>
            <a:prstGeom prst="ellipse">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3600" dirty="0">
                  <a:cs typeface="Calibri"/>
                </a:rPr>
                <a:t>2</a:t>
              </a:r>
            </a:p>
          </p:txBody>
        </p:sp>
        <p:cxnSp>
          <p:nvCxnSpPr>
            <p:cNvPr id="9" name="Connecteur droit avec flèche 8">
              <a:extLst>
                <a:ext uri="{FF2B5EF4-FFF2-40B4-BE49-F238E27FC236}">
                  <a16:creationId xmlns:a16="http://schemas.microsoft.com/office/drawing/2014/main" id="{4D2B6F16-CFE0-4485-0AF5-0A5D12C03308}"/>
                </a:ext>
              </a:extLst>
            </p:cNvPr>
            <p:cNvCxnSpPr>
              <a:cxnSpLocks/>
            </p:cNvCxnSpPr>
            <p:nvPr/>
          </p:nvCxnSpPr>
          <p:spPr>
            <a:xfrm>
              <a:off x="1057031" y="1438031"/>
              <a:ext cx="25400" cy="3552092"/>
            </a:xfrm>
            <a:prstGeom prst="straightConnector1">
              <a:avLst/>
            </a:prstGeom>
            <a:solidFill>
              <a:schemeClr val="accent2">
                <a:lumMod val="60000"/>
                <a:lumOff val="40000"/>
              </a:schemeClr>
            </a:solidFill>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Ellipse 9">
              <a:extLst>
                <a:ext uri="{FF2B5EF4-FFF2-40B4-BE49-F238E27FC236}">
                  <a16:creationId xmlns:a16="http://schemas.microsoft.com/office/drawing/2014/main" id="{9816D231-467C-6F15-7C08-EBE21ED0607F}"/>
                </a:ext>
              </a:extLst>
            </p:cNvPr>
            <p:cNvSpPr/>
            <p:nvPr/>
          </p:nvSpPr>
          <p:spPr>
            <a:xfrm>
              <a:off x="916353" y="4990123"/>
              <a:ext cx="351693" cy="312615"/>
            </a:xfrm>
            <a:prstGeom prst="ellipse">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1" name="ZoneTexte 10">
            <a:extLst>
              <a:ext uri="{FF2B5EF4-FFF2-40B4-BE49-F238E27FC236}">
                <a16:creationId xmlns:a16="http://schemas.microsoft.com/office/drawing/2014/main" id="{3CE0AC79-0D42-67E4-7953-C107C2296848}"/>
              </a:ext>
            </a:extLst>
          </p:cNvPr>
          <p:cNvSpPr txBox="1"/>
          <p:nvPr/>
        </p:nvSpPr>
        <p:spPr>
          <a:xfrm>
            <a:off x="1664676" y="2192215"/>
            <a:ext cx="430236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dirty="0">
                <a:latin typeface="Verdana Pro Cond"/>
              </a:rPr>
              <a:t>Le président du conseil d'administration  a une place évidemment centrale dans le cadre du bien-être en entreprise .C’est donc à lui que revient la tâche de fixer un cap, de mettre en place des objectifs concrets et de donner les moyens à ses équipes de réussir.</a:t>
            </a:r>
          </a:p>
        </p:txBody>
      </p:sp>
      <p:sp>
        <p:nvSpPr>
          <p:cNvPr id="12" name="ZoneTexte 11">
            <a:extLst>
              <a:ext uri="{FF2B5EF4-FFF2-40B4-BE49-F238E27FC236}">
                <a16:creationId xmlns:a16="http://schemas.microsoft.com/office/drawing/2014/main" id="{1D3691C4-5567-B2F6-B091-16BC968288FD}"/>
              </a:ext>
            </a:extLst>
          </p:cNvPr>
          <p:cNvSpPr txBox="1"/>
          <p:nvPr/>
        </p:nvSpPr>
        <p:spPr>
          <a:xfrm>
            <a:off x="6394938" y="1490785"/>
            <a:ext cx="609404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Font typeface="Arial"/>
              <a:buChar char="•"/>
            </a:pPr>
            <a:r>
              <a:rPr lang="en-US" sz="2400" b="1" u="sng" noProof="1">
                <a:solidFill>
                  <a:srgbClr val="27273D"/>
                </a:solidFill>
                <a:latin typeface="Work Sans"/>
              </a:rPr>
              <a:t>La direction des ressources</a:t>
            </a:r>
            <a:endParaRPr lang="fr-FR" dirty="0">
              <a:cs typeface="Calibri" panose="020F0502020204030204"/>
            </a:endParaRPr>
          </a:p>
          <a:p>
            <a:pPr algn="ctr"/>
            <a:r>
              <a:rPr lang="en-US" sz="2400" b="1" u="sng" noProof="1">
                <a:solidFill>
                  <a:srgbClr val="27273D"/>
                </a:solidFill>
                <a:latin typeface="Work Sans"/>
              </a:rPr>
              <a:t> humaines</a:t>
            </a:r>
            <a:endParaRPr lang="en-US" dirty="0">
              <a:cs typeface="Calibri" panose="020F0502020204030204"/>
            </a:endParaRPr>
          </a:p>
        </p:txBody>
      </p:sp>
      <p:sp>
        <p:nvSpPr>
          <p:cNvPr id="13" name="ZoneTexte 12">
            <a:extLst>
              <a:ext uri="{FF2B5EF4-FFF2-40B4-BE49-F238E27FC236}">
                <a16:creationId xmlns:a16="http://schemas.microsoft.com/office/drawing/2014/main" id="{DD3A471E-B0CE-2916-0F9B-C4A0A983B34F}"/>
              </a:ext>
            </a:extLst>
          </p:cNvPr>
          <p:cNvSpPr txBox="1"/>
          <p:nvPr/>
        </p:nvSpPr>
        <p:spPr>
          <a:xfrm>
            <a:off x="6600092" y="2321169"/>
            <a:ext cx="545904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noProof="1">
                <a:latin typeface="Verdana Pro Cond"/>
              </a:rPr>
              <a:t>Le CHRO(chef d'orchestre) donne les orientations stratégiques pour mettre en place des programmes facilitant les conditions de travail. Grâce à sa vision globale, le CHRO est capable d’identifier et de mesurer les points sensibles ou d’amélioration du bien-être au travail, par des données quantitatives (arrêts de travail, turnover, etc.) et qualitatives (entretiens individuels)</a:t>
            </a:r>
            <a:r>
              <a:rPr lang="en-US" dirty="0">
                <a:solidFill>
                  <a:srgbClr val="27273D"/>
                </a:solidFill>
                <a:latin typeface="Work Sans"/>
              </a:rPr>
              <a:t>.</a:t>
            </a:r>
            <a:endParaRPr lang="en-US" dirty="0"/>
          </a:p>
        </p:txBody>
      </p:sp>
    </p:spTree>
    <p:extLst>
      <p:ext uri="{BB962C8B-B14F-4D97-AF65-F5344CB8AC3E}">
        <p14:creationId xmlns:p14="http://schemas.microsoft.com/office/powerpoint/2010/main" val="704949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736D75F9-15C2-D77D-A405-337F229DED37}"/>
              </a:ext>
            </a:extLst>
          </p:cNvPr>
          <p:cNvGrpSpPr/>
          <p:nvPr/>
        </p:nvGrpSpPr>
        <p:grpSpPr>
          <a:xfrm>
            <a:off x="484553" y="550984"/>
            <a:ext cx="1025770" cy="4751754"/>
            <a:chOff x="562707" y="550984"/>
            <a:chExt cx="1025770" cy="4751754"/>
          </a:xfrm>
        </p:grpSpPr>
        <p:sp>
          <p:nvSpPr>
            <p:cNvPr id="3" name="Ellipse 2">
              <a:extLst>
                <a:ext uri="{FF2B5EF4-FFF2-40B4-BE49-F238E27FC236}">
                  <a16:creationId xmlns:a16="http://schemas.microsoft.com/office/drawing/2014/main" id="{E072FE7C-6F8A-6730-8F4A-FBCF4F543744}"/>
                </a:ext>
              </a:extLst>
            </p:cNvPr>
            <p:cNvSpPr/>
            <p:nvPr/>
          </p:nvSpPr>
          <p:spPr>
            <a:xfrm>
              <a:off x="562707" y="550984"/>
              <a:ext cx="1025770" cy="986692"/>
            </a:xfrm>
            <a:prstGeom prst="ellipse">
              <a:avLst/>
            </a:prstGeom>
            <a:solidFill>
              <a:schemeClr val="tx1">
                <a:lumMod val="95000"/>
                <a:lumOff val="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3600" dirty="0">
                  <a:cs typeface="Calibri"/>
                </a:rPr>
                <a:t>3</a:t>
              </a:r>
            </a:p>
          </p:txBody>
        </p:sp>
        <p:cxnSp>
          <p:nvCxnSpPr>
            <p:cNvPr id="4" name="Connecteur droit avec flèche 3">
              <a:extLst>
                <a:ext uri="{FF2B5EF4-FFF2-40B4-BE49-F238E27FC236}">
                  <a16:creationId xmlns:a16="http://schemas.microsoft.com/office/drawing/2014/main" id="{B95CB1DE-8406-7820-CFBC-58408C226C10}"/>
                </a:ext>
              </a:extLst>
            </p:cNvPr>
            <p:cNvCxnSpPr/>
            <p:nvPr/>
          </p:nvCxnSpPr>
          <p:spPr>
            <a:xfrm>
              <a:off x="1057031" y="1438031"/>
              <a:ext cx="25400" cy="3552092"/>
            </a:xfrm>
            <a:prstGeom prst="straightConnector1">
              <a:avLst/>
            </a:prstGeom>
            <a:solidFill>
              <a:schemeClr val="tx1">
                <a:lumMod val="95000"/>
                <a:lumOff val="5000"/>
              </a:schemeClr>
            </a:solidFill>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5" name="Ellipse 4">
              <a:extLst>
                <a:ext uri="{FF2B5EF4-FFF2-40B4-BE49-F238E27FC236}">
                  <a16:creationId xmlns:a16="http://schemas.microsoft.com/office/drawing/2014/main" id="{CEDD9E30-7922-830D-666C-FDBBB248F0FF}"/>
                </a:ext>
              </a:extLst>
            </p:cNvPr>
            <p:cNvSpPr/>
            <p:nvPr/>
          </p:nvSpPr>
          <p:spPr>
            <a:xfrm>
              <a:off x="916353" y="4990123"/>
              <a:ext cx="351693" cy="312615"/>
            </a:xfrm>
            <a:prstGeom prst="ellipse">
              <a:avLst/>
            </a:prstGeom>
            <a:solidFill>
              <a:schemeClr val="tx1">
                <a:lumMod val="95000"/>
                <a:lumOff val="5000"/>
              </a:schemeClr>
            </a:solidFill>
            <a:ln>
              <a:solidFill>
                <a:srgbClr val="C9C9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7" name="ZoneTexte 6">
            <a:extLst>
              <a:ext uri="{FF2B5EF4-FFF2-40B4-BE49-F238E27FC236}">
                <a16:creationId xmlns:a16="http://schemas.microsoft.com/office/drawing/2014/main" id="{91CE61B1-2AAA-3A82-ACD0-8ADFDACF874B}"/>
              </a:ext>
            </a:extLst>
          </p:cNvPr>
          <p:cNvSpPr txBox="1"/>
          <p:nvPr/>
        </p:nvSpPr>
        <p:spPr>
          <a:xfrm>
            <a:off x="1598246" y="1393092"/>
            <a:ext cx="398389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dirty="0">
                <a:solidFill>
                  <a:srgbClr val="27273D"/>
                </a:solidFill>
                <a:latin typeface="Work Sans"/>
              </a:rPr>
              <a:t>Le Directeur des talents</a:t>
            </a:r>
          </a:p>
        </p:txBody>
      </p:sp>
      <p:grpSp>
        <p:nvGrpSpPr>
          <p:cNvPr id="8" name="Groupe 7">
            <a:extLst>
              <a:ext uri="{FF2B5EF4-FFF2-40B4-BE49-F238E27FC236}">
                <a16:creationId xmlns:a16="http://schemas.microsoft.com/office/drawing/2014/main" id="{32984E7A-5B69-8DCD-AA61-7C808EDE57EE}"/>
              </a:ext>
            </a:extLst>
          </p:cNvPr>
          <p:cNvGrpSpPr/>
          <p:nvPr/>
        </p:nvGrpSpPr>
        <p:grpSpPr>
          <a:xfrm>
            <a:off x="6013937" y="560753"/>
            <a:ext cx="1025770" cy="4751754"/>
            <a:chOff x="562707" y="550984"/>
            <a:chExt cx="1025770" cy="4751754"/>
          </a:xfrm>
        </p:grpSpPr>
        <p:sp>
          <p:nvSpPr>
            <p:cNvPr id="9" name="Ellipse 8">
              <a:extLst>
                <a:ext uri="{FF2B5EF4-FFF2-40B4-BE49-F238E27FC236}">
                  <a16:creationId xmlns:a16="http://schemas.microsoft.com/office/drawing/2014/main" id="{F4666DAB-B986-82FD-3885-F032F57FE8BB}"/>
                </a:ext>
              </a:extLst>
            </p:cNvPr>
            <p:cNvSpPr/>
            <p:nvPr/>
          </p:nvSpPr>
          <p:spPr>
            <a:xfrm>
              <a:off x="562707" y="550984"/>
              <a:ext cx="1025770" cy="986692"/>
            </a:xfrm>
            <a:prstGeom prst="ellipse">
              <a:avLst/>
            </a:prstGeom>
            <a:solidFill>
              <a:srgbClr val="FFC000"/>
            </a:solidFill>
            <a:ln>
              <a:solidFill>
                <a:srgbClr val="FFB7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3600" dirty="0">
                  <a:cs typeface="Calibri"/>
                </a:rPr>
                <a:t>4</a:t>
              </a:r>
            </a:p>
          </p:txBody>
        </p:sp>
        <p:cxnSp>
          <p:nvCxnSpPr>
            <p:cNvPr id="10" name="Connecteur droit avec flèche 9">
              <a:extLst>
                <a:ext uri="{FF2B5EF4-FFF2-40B4-BE49-F238E27FC236}">
                  <a16:creationId xmlns:a16="http://schemas.microsoft.com/office/drawing/2014/main" id="{7B57E579-AEFC-D716-8DF7-9EF2A74E6EB8}"/>
                </a:ext>
              </a:extLst>
            </p:cNvPr>
            <p:cNvCxnSpPr>
              <a:cxnSpLocks/>
            </p:cNvCxnSpPr>
            <p:nvPr/>
          </p:nvCxnSpPr>
          <p:spPr>
            <a:xfrm>
              <a:off x="1057031" y="1438031"/>
              <a:ext cx="25400" cy="3552092"/>
            </a:xfrm>
            <a:prstGeom prst="straightConnector1">
              <a:avLst/>
            </a:prstGeom>
            <a:solidFill>
              <a:srgbClr val="FFC000"/>
            </a:solidFill>
            <a:ln>
              <a:solidFill>
                <a:srgbClr val="FFB700"/>
              </a:solidFill>
            </a:ln>
          </p:spPr>
          <p:style>
            <a:lnRef idx="1">
              <a:schemeClr val="accent1"/>
            </a:lnRef>
            <a:fillRef idx="0">
              <a:schemeClr val="accent1"/>
            </a:fillRef>
            <a:effectRef idx="0">
              <a:schemeClr val="accent1"/>
            </a:effectRef>
            <a:fontRef idx="minor">
              <a:schemeClr val="tx1"/>
            </a:fontRef>
          </p:style>
        </p:cxnSp>
        <p:sp>
          <p:nvSpPr>
            <p:cNvPr id="11" name="Ellipse 10">
              <a:extLst>
                <a:ext uri="{FF2B5EF4-FFF2-40B4-BE49-F238E27FC236}">
                  <a16:creationId xmlns:a16="http://schemas.microsoft.com/office/drawing/2014/main" id="{2EFFBCB9-BD33-3E1A-56C2-E882917F8202}"/>
                </a:ext>
              </a:extLst>
            </p:cNvPr>
            <p:cNvSpPr/>
            <p:nvPr/>
          </p:nvSpPr>
          <p:spPr>
            <a:xfrm>
              <a:off x="916353" y="4990123"/>
              <a:ext cx="351693" cy="312615"/>
            </a:xfrm>
            <a:prstGeom prst="ellipse">
              <a:avLst/>
            </a:prstGeom>
            <a:solidFill>
              <a:srgbClr val="FFC000"/>
            </a:solidFill>
            <a:ln>
              <a:solidFill>
                <a:srgbClr val="FFB7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2" name="ZoneTexte 11">
            <a:extLst>
              <a:ext uri="{FF2B5EF4-FFF2-40B4-BE49-F238E27FC236}">
                <a16:creationId xmlns:a16="http://schemas.microsoft.com/office/drawing/2014/main" id="{9B00A598-5893-E5E0-135E-60E74B376A80}"/>
              </a:ext>
            </a:extLst>
          </p:cNvPr>
          <p:cNvSpPr txBox="1"/>
          <p:nvPr/>
        </p:nvSpPr>
        <p:spPr>
          <a:xfrm>
            <a:off x="1432169" y="1910862"/>
            <a:ext cx="5107353"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noProof="1">
                <a:latin typeface="Verdana Pro Cond"/>
              </a:rPr>
              <a:t>Le directeur des talents a pour objectif d’accompagner les collaborateurs dans leur </a:t>
            </a:r>
            <a:r>
              <a:rPr lang="en-US" sz="2000" noProof="1">
                <a:latin typeface="Verdana Pro Cond"/>
                <a:hlinkClick r:id="rId2">
                  <a:extLst>
                    <a:ext uri="{A12FA001-AC4F-418D-AE19-62706E023703}">
                      <ahyp:hlinkClr xmlns:ahyp="http://schemas.microsoft.com/office/drawing/2018/hyperlinkcolor" val="tx"/>
                    </a:ext>
                  </a:extLst>
                </a:hlinkClick>
              </a:rPr>
              <a:t>évolution de carrière</a:t>
            </a:r>
            <a:r>
              <a:rPr lang="en-US" sz="2000" noProof="1">
                <a:latin typeface="Verdana Pro Cond"/>
              </a:rPr>
              <a:t> en identifiant les perspectives de mobilité interne. Les collaborateurs peuvent ainsi se sentir épanouis dans leurs rôles en sachant que la gestion de leur carrière est assurée sur le long terme, grâce notamment à une formation adaptée constante. Le tout contribue évidemment à améliorer le bien-être au travail.</a:t>
            </a:r>
          </a:p>
        </p:txBody>
      </p:sp>
      <p:sp>
        <p:nvSpPr>
          <p:cNvPr id="13" name="ZoneTexte 12">
            <a:extLst>
              <a:ext uri="{FF2B5EF4-FFF2-40B4-BE49-F238E27FC236}">
                <a16:creationId xmlns:a16="http://schemas.microsoft.com/office/drawing/2014/main" id="{D53BBCC4-8058-3495-7891-07AF352668A8}"/>
              </a:ext>
            </a:extLst>
          </p:cNvPr>
          <p:cNvSpPr txBox="1"/>
          <p:nvPr/>
        </p:nvSpPr>
        <p:spPr>
          <a:xfrm>
            <a:off x="7108092" y="1363785"/>
            <a:ext cx="497058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u="sng" dirty="0">
                <a:solidFill>
                  <a:srgbClr val="27273D"/>
                </a:solidFill>
                <a:latin typeface="Work Sans"/>
              </a:rPr>
              <a:t>Le </a:t>
            </a:r>
            <a:r>
              <a:rPr lang="en-US" sz="2400" b="1" u="sng" noProof="1">
                <a:solidFill>
                  <a:srgbClr val="27273D"/>
                </a:solidFill>
                <a:latin typeface="Work Sans"/>
              </a:rPr>
              <a:t>responsable </a:t>
            </a:r>
            <a:r>
              <a:rPr lang="en-US" sz="2400" b="1" u="sng" dirty="0">
                <a:solidFill>
                  <a:srgbClr val="27273D"/>
                </a:solidFill>
                <a:latin typeface="Work Sans"/>
              </a:rPr>
              <a:t>Communication Interne</a:t>
            </a:r>
          </a:p>
        </p:txBody>
      </p:sp>
      <p:sp>
        <p:nvSpPr>
          <p:cNvPr id="14" name="ZoneTexte 13">
            <a:extLst>
              <a:ext uri="{FF2B5EF4-FFF2-40B4-BE49-F238E27FC236}">
                <a16:creationId xmlns:a16="http://schemas.microsoft.com/office/drawing/2014/main" id="{930920A8-E340-688D-5EB2-BCF431BFB86E}"/>
              </a:ext>
            </a:extLst>
          </p:cNvPr>
          <p:cNvSpPr txBox="1"/>
          <p:nvPr/>
        </p:nvSpPr>
        <p:spPr>
          <a:xfrm>
            <a:off x="6697785" y="2272323"/>
            <a:ext cx="5312508"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noProof="1">
                <a:latin typeface="Verdana Pro Cond"/>
              </a:rPr>
              <a:t>Afin de promouvoir l'image de l’entreprise et de relayer ses initiatives auprès des salariés, le responsable communication interne coordonne et structure  les activités de communication. Véritable interface entre la direction générale et les collaborateurs, grâce à lui, les valeurs de l'entreprise sont bien présentes dans chaque action menée. Cette stratégie contribue à augmenter l’engagement collaborateur et le bien-être des salariés.</a:t>
            </a:r>
            <a:endParaRPr lang="fr-FR" dirty="0"/>
          </a:p>
        </p:txBody>
      </p:sp>
    </p:spTree>
    <p:extLst>
      <p:ext uri="{BB962C8B-B14F-4D97-AF65-F5344CB8AC3E}">
        <p14:creationId xmlns:p14="http://schemas.microsoft.com/office/powerpoint/2010/main" val="4042788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ZoneTexte 2">
            <a:extLst>
              <a:ext uri="{FF2B5EF4-FFF2-40B4-BE49-F238E27FC236}">
                <a16:creationId xmlns:a16="http://schemas.microsoft.com/office/drawing/2014/main" id="{B07EDCB3-8DD2-7701-B64E-E5918CC0D7C9}"/>
              </a:ext>
            </a:extLst>
          </p:cNvPr>
          <p:cNvSpPr txBox="1"/>
          <p:nvPr/>
        </p:nvSpPr>
        <p:spPr>
          <a:xfrm>
            <a:off x="640080" y="2872899"/>
            <a:ext cx="4994856" cy="310602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Autofit/>
          </a:bodyPr>
          <a:lstStyle/>
          <a:p>
            <a:pPr marL="457200" indent="-685800">
              <a:lnSpc>
                <a:spcPct val="90000"/>
              </a:lnSpc>
              <a:spcAft>
                <a:spcPts val="600"/>
              </a:spcAft>
              <a:buFont typeface="Arial" panose="020B0604020202020204" pitchFamily="34" charset="0"/>
              <a:buChar char="•"/>
            </a:pPr>
            <a:r>
              <a:rPr lang="en-US" sz="5400" b="1" i="1" noProof="1">
                <a:solidFill>
                  <a:schemeClr val="bg1"/>
                </a:solidFill>
                <a:latin typeface="Times New Roman"/>
                <a:cs typeface="Times New Roman"/>
              </a:rPr>
              <a:t>Conseils pour ameliorer le bien être au travail:</a:t>
            </a:r>
            <a:endParaRPr lang="en-US" noProof="1">
              <a:solidFill>
                <a:schemeClr val="bg1"/>
              </a:solidFill>
              <a:latin typeface="Calibri"/>
              <a:cs typeface="Calibri"/>
            </a:endParaRPr>
          </a:p>
        </p:txBody>
      </p:sp>
      <p:pic>
        <p:nvPicPr>
          <p:cNvPr id="2" name="Image 2" descr="Une image contenant texte&#10;&#10;Description générée automatiquement">
            <a:extLst>
              <a:ext uri="{FF2B5EF4-FFF2-40B4-BE49-F238E27FC236}">
                <a16:creationId xmlns:a16="http://schemas.microsoft.com/office/drawing/2014/main" id="{2DCD83C9-B55C-ACC5-447B-E331E77BF1BD}"/>
              </a:ext>
            </a:extLst>
          </p:cNvPr>
          <p:cNvPicPr>
            <a:picLocks noChangeAspect="1"/>
          </p:cNvPicPr>
          <p:nvPr/>
        </p:nvPicPr>
        <p:blipFill rotWithShape="1">
          <a:blip r:embed="rId2"/>
          <a:srcRect t="5795" r="-2" b="2098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881769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èche : haut 2">
            <a:extLst>
              <a:ext uri="{FF2B5EF4-FFF2-40B4-BE49-F238E27FC236}">
                <a16:creationId xmlns:a16="http://schemas.microsoft.com/office/drawing/2014/main" id="{1E3056DC-42D1-1673-BEEE-81336249E9E5}"/>
              </a:ext>
            </a:extLst>
          </p:cNvPr>
          <p:cNvSpPr/>
          <p:nvPr/>
        </p:nvSpPr>
        <p:spPr>
          <a:xfrm>
            <a:off x="5628067" y="461492"/>
            <a:ext cx="407831" cy="5806224"/>
          </a:xfrm>
          <a:prstGeom prst="upArrow">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 name="Groupe 7">
            <a:extLst>
              <a:ext uri="{FF2B5EF4-FFF2-40B4-BE49-F238E27FC236}">
                <a16:creationId xmlns:a16="http://schemas.microsoft.com/office/drawing/2014/main" id="{839D578B-C496-FC7E-7D9E-460641C5333C}"/>
              </a:ext>
            </a:extLst>
          </p:cNvPr>
          <p:cNvGrpSpPr/>
          <p:nvPr/>
        </p:nvGrpSpPr>
        <p:grpSpPr>
          <a:xfrm>
            <a:off x="5733245" y="985233"/>
            <a:ext cx="6241961" cy="927624"/>
            <a:chOff x="5733245" y="985233"/>
            <a:chExt cx="6241961" cy="927624"/>
          </a:xfrm>
        </p:grpSpPr>
        <p:sp>
          <p:nvSpPr>
            <p:cNvPr id="4" name="Flèche : virage 3">
              <a:extLst>
                <a:ext uri="{FF2B5EF4-FFF2-40B4-BE49-F238E27FC236}">
                  <a16:creationId xmlns:a16="http://schemas.microsoft.com/office/drawing/2014/main" id="{85934411-ABEE-9939-650F-1A17180C7EDF}"/>
                </a:ext>
              </a:extLst>
            </p:cNvPr>
            <p:cNvSpPr/>
            <p:nvPr/>
          </p:nvSpPr>
          <p:spPr>
            <a:xfrm>
              <a:off x="5733245" y="1156952"/>
              <a:ext cx="2060618" cy="729802"/>
            </a:xfrm>
            <a:prstGeom prst="bentArrow">
              <a:avLst/>
            </a:prstGeom>
            <a:solidFill>
              <a:schemeClr val="bg2">
                <a:lumMod val="50000"/>
              </a:schemeClr>
            </a:solidFill>
            <a:ln>
              <a:solidFill>
                <a:srgbClr val="5453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7" name="Groupe 6">
              <a:extLst>
                <a:ext uri="{FF2B5EF4-FFF2-40B4-BE49-F238E27FC236}">
                  <a16:creationId xmlns:a16="http://schemas.microsoft.com/office/drawing/2014/main" id="{AEF68312-5B53-326A-CD63-F95831597A01}"/>
                </a:ext>
              </a:extLst>
            </p:cNvPr>
            <p:cNvGrpSpPr/>
            <p:nvPr/>
          </p:nvGrpSpPr>
          <p:grpSpPr>
            <a:xfrm>
              <a:off x="7832501" y="985233"/>
              <a:ext cx="4142705" cy="927624"/>
              <a:chOff x="7832501" y="985233"/>
              <a:chExt cx="4142705" cy="927624"/>
            </a:xfrm>
          </p:grpSpPr>
          <p:sp>
            <p:nvSpPr>
              <p:cNvPr id="5" name="ZoneTexte 4">
                <a:extLst>
                  <a:ext uri="{FF2B5EF4-FFF2-40B4-BE49-F238E27FC236}">
                    <a16:creationId xmlns:a16="http://schemas.microsoft.com/office/drawing/2014/main" id="{FB20FE76-577C-6B8B-0B0F-3E6D74187336}"/>
                  </a:ext>
                </a:extLst>
              </p:cNvPr>
              <p:cNvSpPr txBox="1"/>
              <p:nvPr/>
            </p:nvSpPr>
            <p:spPr>
              <a:xfrm>
                <a:off x="7922654" y="989527"/>
                <a:ext cx="404181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noProof="1">
                    <a:solidFill>
                      <a:srgbClr val="333C4D"/>
                    </a:solidFill>
                    <a:latin typeface="Muli"/>
                  </a:rPr>
                  <a:t>Créez un environnement de travail correspondant aux besoins de vos employés</a:t>
                </a:r>
              </a:p>
            </p:txBody>
          </p:sp>
          <p:sp>
            <p:nvSpPr>
              <p:cNvPr id="6" name="Rectangle : avec coin arrondi 5">
                <a:extLst>
                  <a:ext uri="{FF2B5EF4-FFF2-40B4-BE49-F238E27FC236}">
                    <a16:creationId xmlns:a16="http://schemas.microsoft.com/office/drawing/2014/main" id="{FE522058-4B77-D0DE-372E-0F387274E96C}"/>
                  </a:ext>
                </a:extLst>
              </p:cNvPr>
              <p:cNvSpPr/>
              <p:nvPr/>
            </p:nvSpPr>
            <p:spPr>
              <a:xfrm>
                <a:off x="7832501" y="985233"/>
                <a:ext cx="4142705" cy="922987"/>
              </a:xfrm>
              <a:prstGeom prst="round1Rect">
                <a:avLst/>
              </a:prstGeom>
              <a:noFill/>
              <a:ln>
                <a:solidFill>
                  <a:srgbClr val="5453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10" name="Flèche : virage 9">
            <a:extLst>
              <a:ext uri="{FF2B5EF4-FFF2-40B4-BE49-F238E27FC236}">
                <a16:creationId xmlns:a16="http://schemas.microsoft.com/office/drawing/2014/main" id="{12782176-50B8-2A55-6D0D-95C48DD140D0}"/>
              </a:ext>
            </a:extLst>
          </p:cNvPr>
          <p:cNvSpPr/>
          <p:nvPr/>
        </p:nvSpPr>
        <p:spPr>
          <a:xfrm>
            <a:off x="5733245" y="2992191"/>
            <a:ext cx="2060618" cy="729802"/>
          </a:xfrm>
          <a:prstGeom prst="bentArrow">
            <a:avLst/>
          </a:prstGeom>
          <a:solidFill>
            <a:srgbClr val="545352"/>
          </a:solidFill>
          <a:ln>
            <a:solidFill>
              <a:srgbClr val="5453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11" name="Groupe 10">
            <a:extLst>
              <a:ext uri="{FF2B5EF4-FFF2-40B4-BE49-F238E27FC236}">
                <a16:creationId xmlns:a16="http://schemas.microsoft.com/office/drawing/2014/main" id="{AAB0F725-8326-386B-9461-43947140B85F}"/>
              </a:ext>
            </a:extLst>
          </p:cNvPr>
          <p:cNvGrpSpPr/>
          <p:nvPr/>
        </p:nvGrpSpPr>
        <p:grpSpPr>
          <a:xfrm>
            <a:off x="7832501" y="2895599"/>
            <a:ext cx="4142705" cy="650625"/>
            <a:chOff x="7832501" y="985233"/>
            <a:chExt cx="4142705" cy="650625"/>
          </a:xfrm>
        </p:grpSpPr>
        <p:sp>
          <p:nvSpPr>
            <p:cNvPr id="12" name="ZoneTexte 11">
              <a:extLst>
                <a:ext uri="{FF2B5EF4-FFF2-40B4-BE49-F238E27FC236}">
                  <a16:creationId xmlns:a16="http://schemas.microsoft.com/office/drawing/2014/main" id="{6C4200A6-3A88-FC68-63DF-859815A7119A}"/>
                </a:ext>
              </a:extLst>
            </p:cNvPr>
            <p:cNvSpPr txBox="1"/>
            <p:nvPr/>
          </p:nvSpPr>
          <p:spPr>
            <a:xfrm>
              <a:off x="7922654" y="989527"/>
              <a:ext cx="404181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t>Accordez des pauses à vos employés</a:t>
              </a:r>
              <a:endParaRPr lang="fr-FR" dirty="0"/>
            </a:p>
            <a:p>
              <a:pPr algn="just"/>
              <a:endParaRPr lang="en-US" b="1" noProof="1">
                <a:solidFill>
                  <a:srgbClr val="333C4D"/>
                </a:solidFill>
                <a:latin typeface="Muli"/>
              </a:endParaRPr>
            </a:p>
          </p:txBody>
        </p:sp>
        <p:sp>
          <p:nvSpPr>
            <p:cNvPr id="13" name="Rectangle : avec coin arrondi 12">
              <a:extLst>
                <a:ext uri="{FF2B5EF4-FFF2-40B4-BE49-F238E27FC236}">
                  <a16:creationId xmlns:a16="http://schemas.microsoft.com/office/drawing/2014/main" id="{93359F44-D66B-2762-ABFE-87C463752589}"/>
                </a:ext>
              </a:extLst>
            </p:cNvPr>
            <p:cNvSpPr/>
            <p:nvPr/>
          </p:nvSpPr>
          <p:spPr>
            <a:xfrm>
              <a:off x="7832501" y="985233"/>
              <a:ext cx="4142705" cy="601016"/>
            </a:xfrm>
            <a:prstGeom prst="round1Rect">
              <a:avLst/>
            </a:prstGeom>
            <a:noFill/>
            <a:ln>
              <a:solidFill>
                <a:srgbClr val="5453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3" name="Groupe 22">
            <a:extLst>
              <a:ext uri="{FF2B5EF4-FFF2-40B4-BE49-F238E27FC236}">
                <a16:creationId xmlns:a16="http://schemas.microsoft.com/office/drawing/2014/main" id="{AD23463B-2AEB-1F3A-66A2-8418611A44AB}"/>
              </a:ext>
            </a:extLst>
          </p:cNvPr>
          <p:cNvGrpSpPr/>
          <p:nvPr/>
        </p:nvGrpSpPr>
        <p:grpSpPr>
          <a:xfrm>
            <a:off x="156694" y="1772990"/>
            <a:ext cx="5774648" cy="1051778"/>
            <a:chOff x="145962" y="1622736"/>
            <a:chExt cx="5774648" cy="1051778"/>
          </a:xfrm>
        </p:grpSpPr>
        <p:sp>
          <p:nvSpPr>
            <p:cNvPr id="20" name="Flèche : virage 19">
              <a:extLst>
                <a:ext uri="{FF2B5EF4-FFF2-40B4-BE49-F238E27FC236}">
                  <a16:creationId xmlns:a16="http://schemas.microsoft.com/office/drawing/2014/main" id="{736BE421-520F-97CF-4BA2-D79BF83D422D}"/>
                </a:ext>
              </a:extLst>
            </p:cNvPr>
            <p:cNvSpPr/>
            <p:nvPr/>
          </p:nvSpPr>
          <p:spPr>
            <a:xfrm flipH="1">
              <a:off x="4053173" y="1910420"/>
              <a:ext cx="1867437" cy="761999"/>
            </a:xfrm>
            <a:prstGeom prst="bentArrow">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Rectangle : avec coin arrondi 20">
              <a:extLst>
                <a:ext uri="{FF2B5EF4-FFF2-40B4-BE49-F238E27FC236}">
                  <a16:creationId xmlns:a16="http://schemas.microsoft.com/office/drawing/2014/main" id="{26829266-832F-F760-B62B-0023E39C8245}"/>
                </a:ext>
              </a:extLst>
            </p:cNvPr>
            <p:cNvSpPr/>
            <p:nvPr/>
          </p:nvSpPr>
          <p:spPr>
            <a:xfrm>
              <a:off x="145962" y="1622736"/>
              <a:ext cx="3906590" cy="1051778"/>
            </a:xfrm>
            <a:prstGeom prst="round1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fr-FR" b="1" dirty="0">
                <a:solidFill>
                  <a:schemeClr val="tx1">
                    <a:lumMod val="95000"/>
                    <a:lumOff val="5000"/>
                  </a:schemeClr>
                </a:solidFill>
                <a:latin typeface="Muli"/>
              </a:endParaRPr>
            </a:p>
            <a:p>
              <a:pPr algn="just"/>
              <a:endParaRPr lang="fr-FR" b="1" dirty="0">
                <a:solidFill>
                  <a:schemeClr val="tx1">
                    <a:lumMod val="95000"/>
                    <a:lumOff val="5000"/>
                  </a:schemeClr>
                </a:solidFill>
              </a:endParaRPr>
            </a:p>
            <a:p>
              <a:pPr algn="just"/>
              <a:r>
                <a:rPr lang="fr-FR" b="1" dirty="0">
                  <a:solidFill>
                    <a:schemeClr val="tx1">
                      <a:lumMod val="95000"/>
                      <a:lumOff val="5000"/>
                    </a:schemeClr>
                  </a:solidFill>
                </a:rPr>
                <a:t>Améliorer l’esprit d’équipe et le sentiment d’appartenance à l’entreprise pour favoriser le bien-être</a:t>
              </a:r>
              <a:endParaRPr lang="fr-FR">
                <a:solidFill>
                  <a:schemeClr val="tx1">
                    <a:lumMod val="95000"/>
                    <a:lumOff val="5000"/>
                  </a:schemeClr>
                </a:solidFill>
                <a:cs typeface="Calibri"/>
              </a:endParaRPr>
            </a:p>
            <a:p>
              <a:pPr algn="just"/>
              <a:endParaRPr lang="fr-FR" b="1" dirty="0">
                <a:solidFill>
                  <a:schemeClr val="tx1">
                    <a:lumMod val="95000"/>
                    <a:lumOff val="5000"/>
                  </a:schemeClr>
                </a:solidFill>
                <a:latin typeface="Muli"/>
                <a:cs typeface="Calibri" panose="020F0502020204030204"/>
              </a:endParaRPr>
            </a:p>
            <a:p>
              <a:pPr algn="ctr"/>
              <a:endParaRPr lang="fr-FR" dirty="0">
                <a:solidFill>
                  <a:schemeClr val="tx1">
                    <a:lumMod val="95000"/>
                    <a:lumOff val="5000"/>
                  </a:schemeClr>
                </a:solidFill>
                <a:cs typeface="Calibri"/>
              </a:endParaRPr>
            </a:p>
          </p:txBody>
        </p:sp>
      </p:grpSp>
      <p:grpSp>
        <p:nvGrpSpPr>
          <p:cNvPr id="24" name="Groupe 23">
            <a:extLst>
              <a:ext uri="{FF2B5EF4-FFF2-40B4-BE49-F238E27FC236}">
                <a16:creationId xmlns:a16="http://schemas.microsoft.com/office/drawing/2014/main" id="{712AA18C-7871-6CA0-0AB0-0E49820C09B4}"/>
              </a:ext>
            </a:extLst>
          </p:cNvPr>
          <p:cNvGrpSpPr/>
          <p:nvPr/>
        </p:nvGrpSpPr>
        <p:grpSpPr>
          <a:xfrm>
            <a:off x="156694" y="3704821"/>
            <a:ext cx="5774648" cy="1051778"/>
            <a:chOff x="145962" y="1622736"/>
            <a:chExt cx="5774648" cy="1051778"/>
          </a:xfrm>
        </p:grpSpPr>
        <p:sp>
          <p:nvSpPr>
            <p:cNvPr id="25" name="Flèche : virage 24">
              <a:extLst>
                <a:ext uri="{FF2B5EF4-FFF2-40B4-BE49-F238E27FC236}">
                  <a16:creationId xmlns:a16="http://schemas.microsoft.com/office/drawing/2014/main" id="{EDBC8EE8-E59A-C750-F84D-20BDBE239014}"/>
                </a:ext>
              </a:extLst>
            </p:cNvPr>
            <p:cNvSpPr/>
            <p:nvPr/>
          </p:nvSpPr>
          <p:spPr>
            <a:xfrm flipH="1">
              <a:off x="4053173" y="1910420"/>
              <a:ext cx="1867437" cy="761999"/>
            </a:xfrm>
            <a:prstGeom prst="ben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6" name="Rectangle : avec coin arrondi 25">
              <a:extLst>
                <a:ext uri="{FF2B5EF4-FFF2-40B4-BE49-F238E27FC236}">
                  <a16:creationId xmlns:a16="http://schemas.microsoft.com/office/drawing/2014/main" id="{8E7776A4-D314-CBAC-6119-7D0C4CFBF9BE}"/>
                </a:ext>
              </a:extLst>
            </p:cNvPr>
            <p:cNvSpPr/>
            <p:nvPr/>
          </p:nvSpPr>
          <p:spPr>
            <a:xfrm>
              <a:off x="145962" y="1622736"/>
              <a:ext cx="3906590" cy="1051778"/>
            </a:xfrm>
            <a:prstGeom prst="round1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fr-FR" sz="2000" b="1" dirty="0">
                <a:solidFill>
                  <a:schemeClr val="tx1">
                    <a:lumMod val="95000"/>
                    <a:lumOff val="5000"/>
                  </a:schemeClr>
                </a:solidFill>
                <a:latin typeface="Muli"/>
              </a:endParaRPr>
            </a:p>
            <a:p>
              <a:pPr algn="just"/>
              <a:endParaRPr lang="fr-FR" sz="2000" b="1" dirty="0">
                <a:solidFill>
                  <a:schemeClr val="tx1">
                    <a:lumMod val="95000"/>
                    <a:lumOff val="5000"/>
                  </a:schemeClr>
                </a:solidFill>
                <a:cs typeface="Calibri"/>
              </a:endParaRPr>
            </a:p>
            <a:p>
              <a:pPr algn="just"/>
              <a:r>
                <a:rPr lang="fr-FR" sz="2000" b="1" dirty="0">
                  <a:solidFill>
                    <a:schemeClr val="tx1">
                      <a:lumMod val="95000"/>
                      <a:lumOff val="5000"/>
                    </a:schemeClr>
                  </a:solidFill>
                </a:rPr>
                <a:t>Les encouragements et la reconnaissance</a:t>
              </a:r>
              <a:endParaRPr lang="fr-FR" sz="2000" dirty="0">
                <a:solidFill>
                  <a:schemeClr val="tx1">
                    <a:lumMod val="95000"/>
                    <a:lumOff val="5000"/>
                  </a:schemeClr>
                </a:solidFill>
                <a:cs typeface="Calibri"/>
              </a:endParaRPr>
            </a:p>
            <a:p>
              <a:pPr algn="just"/>
              <a:endParaRPr lang="fr-FR" sz="2000" b="1" dirty="0">
                <a:solidFill>
                  <a:schemeClr val="tx1">
                    <a:lumMod val="95000"/>
                    <a:lumOff val="5000"/>
                  </a:schemeClr>
                </a:solidFill>
                <a:cs typeface="Calibri"/>
              </a:endParaRPr>
            </a:p>
            <a:p>
              <a:pPr algn="just"/>
              <a:endParaRPr lang="fr-FR" sz="2000" b="1" dirty="0">
                <a:solidFill>
                  <a:schemeClr val="tx1">
                    <a:lumMod val="95000"/>
                    <a:lumOff val="5000"/>
                  </a:schemeClr>
                </a:solidFill>
                <a:latin typeface="Muli"/>
                <a:cs typeface="Calibri" panose="020F0502020204030204"/>
              </a:endParaRPr>
            </a:p>
            <a:p>
              <a:pPr algn="ctr"/>
              <a:endParaRPr lang="fr-FR" sz="2000" dirty="0">
                <a:solidFill>
                  <a:schemeClr val="tx1">
                    <a:lumMod val="95000"/>
                    <a:lumOff val="5000"/>
                  </a:schemeClr>
                </a:solidFill>
                <a:cs typeface="Calibri"/>
              </a:endParaRPr>
            </a:p>
          </p:txBody>
        </p:sp>
      </p:grpSp>
      <p:grpSp>
        <p:nvGrpSpPr>
          <p:cNvPr id="40" name="Groupe 39">
            <a:extLst>
              <a:ext uri="{FF2B5EF4-FFF2-40B4-BE49-F238E27FC236}">
                <a16:creationId xmlns:a16="http://schemas.microsoft.com/office/drawing/2014/main" id="{0041D4D4-050F-48BC-0181-4CF6779A6DB1}"/>
              </a:ext>
            </a:extLst>
          </p:cNvPr>
          <p:cNvGrpSpPr/>
          <p:nvPr/>
        </p:nvGrpSpPr>
        <p:grpSpPr>
          <a:xfrm>
            <a:off x="5733245" y="5031346"/>
            <a:ext cx="6199031" cy="1204623"/>
            <a:chOff x="5733245" y="5203064"/>
            <a:chExt cx="6199031" cy="1204623"/>
          </a:xfrm>
        </p:grpSpPr>
        <p:sp>
          <p:nvSpPr>
            <p:cNvPr id="28" name="Flèche : virage 27">
              <a:extLst>
                <a:ext uri="{FF2B5EF4-FFF2-40B4-BE49-F238E27FC236}">
                  <a16:creationId xmlns:a16="http://schemas.microsoft.com/office/drawing/2014/main" id="{7733E4A0-D70C-73ED-551E-246FB69F87CA}"/>
                </a:ext>
              </a:extLst>
            </p:cNvPr>
            <p:cNvSpPr/>
            <p:nvPr/>
          </p:nvSpPr>
          <p:spPr>
            <a:xfrm>
              <a:off x="5733245" y="5256726"/>
              <a:ext cx="2060618" cy="729802"/>
            </a:xfrm>
            <a:prstGeom prst="bentArrow">
              <a:avLst/>
            </a:prstGeom>
            <a:solidFill>
              <a:srgbClr val="00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nvGrpSpPr>
            <p:cNvPr id="37" name="Groupe 36">
              <a:extLst>
                <a:ext uri="{FF2B5EF4-FFF2-40B4-BE49-F238E27FC236}">
                  <a16:creationId xmlns:a16="http://schemas.microsoft.com/office/drawing/2014/main" id="{21E3A47B-A55C-225D-945C-677C8FB581B9}"/>
                </a:ext>
              </a:extLst>
            </p:cNvPr>
            <p:cNvGrpSpPr/>
            <p:nvPr/>
          </p:nvGrpSpPr>
          <p:grpSpPr>
            <a:xfrm>
              <a:off x="7789571" y="5203064"/>
              <a:ext cx="4142705" cy="1204623"/>
              <a:chOff x="7832501" y="985233"/>
              <a:chExt cx="4142705" cy="1204623"/>
            </a:xfrm>
          </p:grpSpPr>
          <p:sp>
            <p:nvSpPr>
              <p:cNvPr id="38" name="ZoneTexte 37">
                <a:extLst>
                  <a:ext uri="{FF2B5EF4-FFF2-40B4-BE49-F238E27FC236}">
                    <a16:creationId xmlns:a16="http://schemas.microsoft.com/office/drawing/2014/main" id="{669EBC18-C516-9273-AF14-4C3A0E72CB82}"/>
                  </a:ext>
                </a:extLst>
              </p:cNvPr>
              <p:cNvSpPr txBox="1"/>
              <p:nvPr/>
            </p:nvSpPr>
            <p:spPr>
              <a:xfrm>
                <a:off x="7922654" y="989527"/>
                <a:ext cx="404181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noProof="1"/>
                  <a:t>Ne faites pas trop travailler vos employés</a:t>
                </a:r>
                <a:endParaRPr lang="fr-FR" noProof="1"/>
              </a:p>
              <a:p>
                <a:pPr algn="just"/>
                <a:endParaRPr lang="en-US" b="1" dirty="0">
                  <a:cs typeface="Calibri"/>
                </a:endParaRPr>
              </a:p>
              <a:p>
                <a:pPr algn="just"/>
                <a:endParaRPr lang="en-US" b="1" noProof="1">
                  <a:solidFill>
                    <a:srgbClr val="333C4D"/>
                  </a:solidFill>
                  <a:latin typeface="Muli"/>
                </a:endParaRPr>
              </a:p>
            </p:txBody>
          </p:sp>
          <p:sp>
            <p:nvSpPr>
              <p:cNvPr id="39" name="Rectangle : avec coin arrondi 38">
                <a:extLst>
                  <a:ext uri="{FF2B5EF4-FFF2-40B4-BE49-F238E27FC236}">
                    <a16:creationId xmlns:a16="http://schemas.microsoft.com/office/drawing/2014/main" id="{6543FF57-00D6-5204-420C-2C6787DF22B8}"/>
                  </a:ext>
                </a:extLst>
              </p:cNvPr>
              <p:cNvSpPr/>
              <p:nvPr/>
            </p:nvSpPr>
            <p:spPr>
              <a:xfrm>
                <a:off x="7832501" y="985233"/>
                <a:ext cx="4142705" cy="601016"/>
              </a:xfrm>
              <a:prstGeom prst="round1Rect">
                <a:avLst/>
              </a:prstGeom>
              <a:noFill/>
              <a:ln>
                <a:solidFill>
                  <a:srgbClr val="5453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Tree>
    <p:extLst>
      <p:ext uri="{BB962C8B-B14F-4D97-AF65-F5344CB8AC3E}">
        <p14:creationId xmlns:p14="http://schemas.microsoft.com/office/powerpoint/2010/main" val="11828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1557A916-FDD1-44A1-A7A1-70009FD6B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4B874C19-9B23-4B12-823E-D67615A9B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743949" cy="6858000"/>
          </a:xfrm>
          <a:custGeom>
            <a:avLst/>
            <a:gdLst>
              <a:gd name="connsiteX0" fmla="*/ 956085 w 7743949"/>
              <a:gd name="connsiteY0" fmla="*/ 2071857 h 6858000"/>
              <a:gd name="connsiteX1" fmla="*/ 4999548 w 7743949"/>
              <a:gd name="connsiteY1" fmla="*/ 2071857 h 6858000"/>
              <a:gd name="connsiteX2" fmla="*/ 5619604 w 7743949"/>
              <a:gd name="connsiteY2" fmla="*/ 2437296 h 6858000"/>
              <a:gd name="connsiteX3" fmla="*/ 7645701 w 7743949"/>
              <a:gd name="connsiteY3" fmla="*/ 5926372 h 6858000"/>
              <a:gd name="connsiteX4" fmla="*/ 7645701 w 7743949"/>
              <a:gd name="connsiteY4" fmla="*/ 6639850 h 6858000"/>
              <a:gd name="connsiteX5" fmla="*/ 7538856 w 7743949"/>
              <a:gd name="connsiteY5" fmla="*/ 6823844 h 6858000"/>
              <a:gd name="connsiteX6" fmla="*/ 7519022 w 7743949"/>
              <a:gd name="connsiteY6" fmla="*/ 6858000 h 6858000"/>
              <a:gd name="connsiteX7" fmla="*/ 0 w 7743949"/>
              <a:gd name="connsiteY7" fmla="*/ 6858000 h 6858000"/>
              <a:gd name="connsiteX8" fmla="*/ 0 w 7743949"/>
              <a:gd name="connsiteY8" fmla="*/ 3003362 h 6858000"/>
              <a:gd name="connsiteX9" fmla="*/ 144017 w 7743949"/>
              <a:gd name="connsiteY9" fmla="*/ 2754282 h 6858000"/>
              <a:gd name="connsiteX10" fmla="*/ 327296 w 7743949"/>
              <a:gd name="connsiteY10" fmla="*/ 2437296 h 6858000"/>
              <a:gd name="connsiteX11" fmla="*/ 956085 w 7743949"/>
              <a:gd name="connsiteY11" fmla="*/ 2071857 h 6858000"/>
              <a:gd name="connsiteX12" fmla="*/ 6281397 w 7743949"/>
              <a:gd name="connsiteY12" fmla="*/ 1163923 h 6858000"/>
              <a:gd name="connsiteX13" fmla="*/ 7148441 w 7743949"/>
              <a:gd name="connsiteY13" fmla="*/ 1163923 h 6858000"/>
              <a:gd name="connsiteX14" fmla="*/ 7281401 w 7743949"/>
              <a:gd name="connsiteY14" fmla="*/ 1242285 h 6858000"/>
              <a:gd name="connsiteX15" fmla="*/ 7715859 w 7743949"/>
              <a:gd name="connsiteY15" fmla="*/ 1990451 h 6858000"/>
              <a:gd name="connsiteX16" fmla="*/ 7715859 w 7743949"/>
              <a:gd name="connsiteY16" fmla="*/ 2143443 h 6858000"/>
              <a:gd name="connsiteX17" fmla="*/ 7281401 w 7743949"/>
              <a:gd name="connsiteY17" fmla="*/ 2891610 h 6858000"/>
              <a:gd name="connsiteX18" fmla="*/ 7148441 w 7743949"/>
              <a:gd name="connsiteY18" fmla="*/ 2969971 h 6858000"/>
              <a:gd name="connsiteX19" fmla="*/ 6281397 w 7743949"/>
              <a:gd name="connsiteY19" fmla="*/ 2969971 h 6858000"/>
              <a:gd name="connsiteX20" fmla="*/ 6146565 w 7743949"/>
              <a:gd name="connsiteY20" fmla="*/ 2891610 h 6858000"/>
              <a:gd name="connsiteX21" fmla="*/ 5713979 w 7743949"/>
              <a:gd name="connsiteY21" fmla="*/ 2143443 h 6858000"/>
              <a:gd name="connsiteX22" fmla="*/ 5713979 w 7743949"/>
              <a:gd name="connsiteY22" fmla="*/ 1990451 h 6858000"/>
              <a:gd name="connsiteX23" fmla="*/ 6146565 w 7743949"/>
              <a:gd name="connsiteY23" fmla="*/ 1242285 h 6858000"/>
              <a:gd name="connsiteX24" fmla="*/ 6281397 w 7743949"/>
              <a:gd name="connsiteY24" fmla="*/ 1163923 h 6858000"/>
              <a:gd name="connsiteX25" fmla="*/ 0 w 7743949"/>
              <a:gd name="connsiteY25" fmla="*/ 0 h 6858000"/>
              <a:gd name="connsiteX26" fmla="*/ 6600525 w 7743949"/>
              <a:gd name="connsiteY26" fmla="*/ 0 h 6858000"/>
              <a:gd name="connsiteX27" fmla="*/ 6486618 w 7743949"/>
              <a:gd name="connsiteY27" fmla="*/ 196155 h 6858000"/>
              <a:gd name="connsiteX28" fmla="*/ 5677553 w 7743949"/>
              <a:gd name="connsiteY28" fmla="*/ 1589421 h 6858000"/>
              <a:gd name="connsiteX29" fmla="*/ 5057496 w 7743949"/>
              <a:gd name="connsiteY29" fmla="*/ 1954861 h 6858000"/>
              <a:gd name="connsiteX30" fmla="*/ 1014033 w 7743949"/>
              <a:gd name="connsiteY30" fmla="*/ 1954861 h 6858000"/>
              <a:gd name="connsiteX31" fmla="*/ 385244 w 7743949"/>
              <a:gd name="connsiteY31" fmla="*/ 1589421 h 6858000"/>
              <a:gd name="connsiteX32" fmla="*/ 69234 w 7743949"/>
              <a:gd name="connsiteY32" fmla="*/ 1042874 h 6858000"/>
              <a:gd name="connsiteX33" fmla="*/ 0 w 7743949"/>
              <a:gd name="connsiteY33" fmla="*/ 923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743949" h="6858000">
                <a:moveTo>
                  <a:pt x="956085" y="2071857"/>
                </a:moveTo>
                <a:cubicBezTo>
                  <a:pt x="956085" y="2071857"/>
                  <a:pt x="956085" y="2071857"/>
                  <a:pt x="4999548" y="2071857"/>
                </a:cubicBezTo>
                <a:cubicBezTo>
                  <a:pt x="5252811" y="2071857"/>
                  <a:pt x="5497339" y="2211072"/>
                  <a:pt x="5619604" y="2437296"/>
                </a:cubicBezTo>
                <a:cubicBezTo>
                  <a:pt x="5619604" y="2437296"/>
                  <a:pt x="5619604" y="2437296"/>
                  <a:pt x="7645701" y="5926372"/>
                </a:cubicBezTo>
                <a:cubicBezTo>
                  <a:pt x="7776699" y="6143896"/>
                  <a:pt x="7776699" y="6422327"/>
                  <a:pt x="7645701" y="6639850"/>
                </a:cubicBezTo>
                <a:cubicBezTo>
                  <a:pt x="7645701" y="6639850"/>
                  <a:pt x="7645701" y="6639850"/>
                  <a:pt x="7538856" y="6823844"/>
                </a:cubicBezTo>
                <a:lnTo>
                  <a:pt x="7519022" y="6858000"/>
                </a:lnTo>
                <a:lnTo>
                  <a:pt x="0" y="6858000"/>
                </a:lnTo>
                <a:lnTo>
                  <a:pt x="0" y="3003362"/>
                </a:lnTo>
                <a:lnTo>
                  <a:pt x="144017" y="2754282"/>
                </a:lnTo>
                <a:cubicBezTo>
                  <a:pt x="203181" y="2651956"/>
                  <a:pt x="264254" y="2546330"/>
                  <a:pt x="327296" y="2437296"/>
                </a:cubicBezTo>
                <a:cubicBezTo>
                  <a:pt x="458294" y="2211072"/>
                  <a:pt x="694090" y="2071857"/>
                  <a:pt x="956085" y="2071857"/>
                </a:cubicBezTo>
                <a:close/>
                <a:moveTo>
                  <a:pt x="6281397" y="1163923"/>
                </a:moveTo>
                <a:cubicBezTo>
                  <a:pt x="6281397" y="1163923"/>
                  <a:pt x="6281397" y="1163923"/>
                  <a:pt x="7148441" y="1163923"/>
                </a:cubicBezTo>
                <a:cubicBezTo>
                  <a:pt x="7202749" y="1163923"/>
                  <a:pt x="7255183" y="1193775"/>
                  <a:pt x="7281401" y="1242285"/>
                </a:cubicBezTo>
                <a:cubicBezTo>
                  <a:pt x="7281401" y="1242285"/>
                  <a:pt x="7281401" y="1242285"/>
                  <a:pt x="7715859" y="1990451"/>
                </a:cubicBezTo>
                <a:cubicBezTo>
                  <a:pt x="7743949" y="2037095"/>
                  <a:pt x="7743949" y="2096799"/>
                  <a:pt x="7715859" y="2143443"/>
                </a:cubicBezTo>
                <a:cubicBezTo>
                  <a:pt x="7715859" y="2143443"/>
                  <a:pt x="7715859" y="2143443"/>
                  <a:pt x="7281401" y="2891610"/>
                </a:cubicBezTo>
                <a:cubicBezTo>
                  <a:pt x="7255183" y="2940119"/>
                  <a:pt x="7202749" y="2969971"/>
                  <a:pt x="7148441" y="2969971"/>
                </a:cubicBezTo>
                <a:cubicBezTo>
                  <a:pt x="7148441" y="2969971"/>
                  <a:pt x="7148441" y="2969971"/>
                  <a:pt x="6281397" y="2969971"/>
                </a:cubicBezTo>
                <a:cubicBezTo>
                  <a:pt x="6225217" y="2969971"/>
                  <a:pt x="6174655" y="2940119"/>
                  <a:pt x="6146565" y="2891610"/>
                </a:cubicBezTo>
                <a:cubicBezTo>
                  <a:pt x="6146565" y="2891610"/>
                  <a:pt x="6146565" y="2891610"/>
                  <a:pt x="5713979" y="2143443"/>
                </a:cubicBezTo>
                <a:cubicBezTo>
                  <a:pt x="5685889" y="2096799"/>
                  <a:pt x="5685889" y="2037095"/>
                  <a:pt x="5713979" y="1990451"/>
                </a:cubicBezTo>
                <a:cubicBezTo>
                  <a:pt x="5713979" y="1990451"/>
                  <a:pt x="5713979" y="1990451"/>
                  <a:pt x="6146565" y="1242285"/>
                </a:cubicBezTo>
                <a:cubicBezTo>
                  <a:pt x="6174655" y="1193775"/>
                  <a:pt x="6225217" y="1163923"/>
                  <a:pt x="6281397" y="1163923"/>
                </a:cubicBezTo>
                <a:close/>
                <a:moveTo>
                  <a:pt x="0" y="0"/>
                </a:moveTo>
                <a:lnTo>
                  <a:pt x="6600525" y="0"/>
                </a:lnTo>
                <a:lnTo>
                  <a:pt x="6486618" y="196155"/>
                </a:lnTo>
                <a:cubicBezTo>
                  <a:pt x="6261242" y="584267"/>
                  <a:pt x="5994130" y="1044253"/>
                  <a:pt x="5677553" y="1589421"/>
                </a:cubicBezTo>
                <a:cubicBezTo>
                  <a:pt x="5555288" y="1815646"/>
                  <a:pt x="5310759" y="1954861"/>
                  <a:pt x="5057496" y="1954861"/>
                </a:cubicBezTo>
                <a:cubicBezTo>
                  <a:pt x="5057496" y="1954861"/>
                  <a:pt x="5057496" y="1954861"/>
                  <a:pt x="1014033" y="1954861"/>
                </a:cubicBezTo>
                <a:cubicBezTo>
                  <a:pt x="752038" y="1954861"/>
                  <a:pt x="516243" y="1815646"/>
                  <a:pt x="385244" y="1589421"/>
                </a:cubicBezTo>
                <a:cubicBezTo>
                  <a:pt x="385244" y="1589421"/>
                  <a:pt x="385244" y="1589421"/>
                  <a:pt x="69234" y="1042874"/>
                </a:cubicBezTo>
                <a:lnTo>
                  <a:pt x="0" y="9231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ZoneTexte 2">
            <a:extLst>
              <a:ext uri="{FF2B5EF4-FFF2-40B4-BE49-F238E27FC236}">
                <a16:creationId xmlns:a16="http://schemas.microsoft.com/office/drawing/2014/main" id="{27515453-C903-5AA5-4EEA-2A00CF2B6F94}"/>
              </a:ext>
            </a:extLst>
          </p:cNvPr>
          <p:cNvSpPr txBox="1"/>
          <p:nvPr/>
        </p:nvSpPr>
        <p:spPr>
          <a:xfrm>
            <a:off x="670887" y="577018"/>
            <a:ext cx="4666592" cy="932592"/>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lnSpcReduction="10000"/>
          </a:bodyPr>
          <a:lstStyle/>
          <a:p>
            <a:pPr indent="-228600">
              <a:lnSpc>
                <a:spcPct val="90000"/>
              </a:lnSpc>
              <a:spcAft>
                <a:spcPts val="600"/>
              </a:spcAft>
              <a:buFont typeface="Arial" panose="020B0604020202020204" pitchFamily="34" charset="0"/>
              <a:buChar char="•"/>
            </a:pPr>
            <a:r>
              <a:rPr lang="en-US" sz="6600" b="1" i="1" dirty="0">
                <a:solidFill>
                  <a:schemeClr val="bg1"/>
                </a:solidFill>
                <a:latin typeface="Times New Roman"/>
                <a:cs typeface="Times New Roman"/>
              </a:rPr>
              <a:t>Conclusion</a:t>
            </a:r>
          </a:p>
        </p:txBody>
      </p:sp>
      <p:pic>
        <p:nvPicPr>
          <p:cNvPr id="2" name="Image 2">
            <a:extLst>
              <a:ext uri="{FF2B5EF4-FFF2-40B4-BE49-F238E27FC236}">
                <a16:creationId xmlns:a16="http://schemas.microsoft.com/office/drawing/2014/main" id="{43F59BC0-4623-15B3-3D23-17F5D732AA83}"/>
              </a:ext>
            </a:extLst>
          </p:cNvPr>
          <p:cNvPicPr>
            <a:picLocks noChangeAspect="1"/>
          </p:cNvPicPr>
          <p:nvPr/>
        </p:nvPicPr>
        <p:blipFill>
          <a:blip r:embed="rId2"/>
          <a:stretch>
            <a:fillRect/>
          </a:stretch>
        </p:blipFill>
        <p:spPr>
          <a:xfrm>
            <a:off x="7527201" y="575136"/>
            <a:ext cx="4616870" cy="5982871"/>
          </a:xfrm>
          <a:prstGeom prst="rect">
            <a:avLst/>
          </a:prstGeom>
        </p:spPr>
      </p:pic>
      <p:sp>
        <p:nvSpPr>
          <p:cNvPr id="4" name="ZoneTexte 3">
            <a:extLst>
              <a:ext uri="{FF2B5EF4-FFF2-40B4-BE49-F238E27FC236}">
                <a16:creationId xmlns:a16="http://schemas.microsoft.com/office/drawing/2014/main" id="{37BCB773-B6A8-DAFA-E97A-CEB1ED0D907D}"/>
              </a:ext>
            </a:extLst>
          </p:cNvPr>
          <p:cNvSpPr txBox="1"/>
          <p:nvPr/>
        </p:nvSpPr>
        <p:spPr>
          <a:xfrm>
            <a:off x="142631" y="2760785"/>
            <a:ext cx="633827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noProof="1">
                <a:solidFill>
                  <a:schemeClr val="bg1"/>
                </a:solidFill>
                <a:latin typeface="Verdana Pro Cond"/>
              </a:rPr>
              <a:t>Assurément, le bien-être ne s’oppose pas à la performance. L’idée que la performance doit se faire aux dépens du bien-être des salariés est une vieille idée. Définitivement, travailler au bien-être des salariés, c’est avant tout créer les conditions de la performance et cela fonctionne dans l’autre sens !</a:t>
            </a:r>
          </a:p>
          <a:p>
            <a:endParaRPr lang="en-US" sz="2000" noProof="1">
              <a:solidFill>
                <a:schemeClr val="bg1"/>
              </a:solidFill>
              <a:latin typeface="Verdana Pro Cond"/>
            </a:endParaRPr>
          </a:p>
          <a:p>
            <a:r>
              <a:rPr lang="en-US" sz="2000" noProof="1">
                <a:solidFill>
                  <a:schemeClr val="bg1"/>
                </a:solidFill>
                <a:latin typeface="Verdana Pro Cond"/>
              </a:rPr>
              <a:t>Dans un sondage pour WeHobby, 90% des personnes interrogées affirment même que la qualité de vie au travail contribue à leur performance et plus globalement à celle des entreprises qui les emploient…</a:t>
            </a:r>
          </a:p>
        </p:txBody>
      </p:sp>
    </p:spTree>
    <p:extLst>
      <p:ext uri="{BB962C8B-B14F-4D97-AF65-F5344CB8AC3E}">
        <p14:creationId xmlns:p14="http://schemas.microsoft.com/office/powerpoint/2010/main" val="1596434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3">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 11" descr="Une image contenant texte&#10;&#10;Description générée automatiquement">
            <a:extLst>
              <a:ext uri="{FF2B5EF4-FFF2-40B4-BE49-F238E27FC236}">
                <a16:creationId xmlns:a16="http://schemas.microsoft.com/office/drawing/2014/main" id="{57D36169-0EBE-BFFF-2023-603F9ED087A1}"/>
              </a:ext>
            </a:extLst>
          </p:cNvPr>
          <p:cNvPicPr>
            <a:picLocks noChangeAspect="1"/>
          </p:cNvPicPr>
          <p:nvPr/>
        </p:nvPicPr>
        <p:blipFill>
          <a:blip r:embed="rId2"/>
          <a:stretch>
            <a:fillRect/>
          </a:stretch>
        </p:blipFill>
        <p:spPr>
          <a:xfrm>
            <a:off x="2653048" y="1048019"/>
            <a:ext cx="6488805" cy="4847821"/>
          </a:xfrm>
          <a:prstGeom prst="rect">
            <a:avLst/>
          </a:prstGeom>
        </p:spPr>
      </p:pic>
      <p:sp>
        <p:nvSpPr>
          <p:cNvPr id="12" name="ZoneTexte 11">
            <a:extLst>
              <a:ext uri="{FF2B5EF4-FFF2-40B4-BE49-F238E27FC236}">
                <a16:creationId xmlns:a16="http://schemas.microsoft.com/office/drawing/2014/main" id="{CDB3C453-0DF7-21F7-6C49-062DFB5EF4EE}"/>
              </a:ext>
            </a:extLst>
          </p:cNvPr>
          <p:cNvSpPr txBox="1"/>
          <p:nvPr/>
        </p:nvSpPr>
        <p:spPr>
          <a:xfrm>
            <a:off x="4056845" y="4301543"/>
            <a:ext cx="378638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3600" dirty="0">
                <a:solidFill>
                  <a:schemeClr val="bg1"/>
                </a:solidFill>
                <a:latin typeface="Georgia Pro Cond Black"/>
                <a:cs typeface="Calibri"/>
              </a:rPr>
              <a:t>Merci pour votre attention</a:t>
            </a:r>
            <a:endParaRPr lang="fr-FR" sz="3600" dirty="0">
              <a:solidFill>
                <a:schemeClr val="bg1"/>
              </a:solidFill>
              <a:latin typeface="Georgia Pro Cond Black"/>
            </a:endParaRPr>
          </a:p>
        </p:txBody>
      </p:sp>
    </p:spTree>
    <p:extLst>
      <p:ext uri="{BB962C8B-B14F-4D97-AF65-F5344CB8AC3E}">
        <p14:creationId xmlns:p14="http://schemas.microsoft.com/office/powerpoint/2010/main" val="36089669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15</Slides>
  <Notes>0</Notes>
  <HiddenSlides>0</HiddenSlides>
  <MMClips>0</MMClips>
  <ScaleCrop>false</ScaleCrop>
  <HeadingPairs>
    <vt:vector size="4" baseType="variant">
      <vt:variant>
        <vt:lpstr>Thème</vt:lpstr>
      </vt:variant>
      <vt:variant>
        <vt:i4>1</vt:i4>
      </vt:variant>
      <vt:variant>
        <vt:lpstr>Titres des diapositives</vt:lpstr>
      </vt:variant>
      <vt:variant>
        <vt:i4>15</vt:i4>
      </vt:variant>
    </vt:vector>
  </HeadingPairs>
  <TitlesOfParts>
    <vt:vector size="16"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
  <cp:lastModifiedBy/>
  <cp:revision>1103</cp:revision>
  <dcterms:created xsi:type="dcterms:W3CDTF">2022-12-04T23:27:01Z</dcterms:created>
  <dcterms:modified xsi:type="dcterms:W3CDTF">2022-12-05T22:11:40Z</dcterms:modified>
</cp:coreProperties>
</file>